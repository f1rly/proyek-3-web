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Gotham Bold" charset="1" panose="00000000000000000000"/>
      <p:regular r:id="rId16"/>
    </p:embeddedFont>
    <p:embeddedFont>
      <p:font typeface="Poppins" charset="1" panose="00000500000000000000"/>
      <p:regular r:id="rId17"/>
    </p:embeddedFont>
    <p:embeddedFont>
      <p:font typeface="Gotham" charset="1" panose="00000000000000000000"/>
      <p:regular r:id="rId18"/>
    </p:embeddedFont>
    <p:embeddedFont>
      <p:font typeface="Gotham Light Italics" charset="1" panose="00000000000000000000"/>
      <p:regular r:id="rId19"/>
    </p:embeddedFont>
    <p:embeddedFont>
      <p:font typeface="Gotham Bold Italics" charset="1" panose="02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FFE"/>
        </a:solidFill>
      </p:bgPr>
    </p:bg>
    <p:spTree>
      <p:nvGrpSpPr>
        <p:cNvPr id="1" name=""/>
        <p:cNvGrpSpPr/>
        <p:nvPr/>
      </p:nvGrpSpPr>
      <p:grpSpPr>
        <a:xfrm>
          <a:off x="0" y="0"/>
          <a:ext cx="0" cy="0"/>
          <a:chOff x="0" y="0"/>
          <a:chExt cx="0" cy="0"/>
        </a:xfrm>
      </p:grpSpPr>
      <p:grpSp>
        <p:nvGrpSpPr>
          <p:cNvPr name="Group 2" id="2"/>
          <p:cNvGrpSpPr/>
          <p:nvPr/>
        </p:nvGrpSpPr>
        <p:grpSpPr>
          <a:xfrm rot="0">
            <a:off x="-5162195" y="3685431"/>
            <a:ext cx="9038766" cy="903876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85725" cap="sq">
              <a:solidFill>
                <a:srgbClr val="FD6220"/>
              </a:solidFill>
              <a:prstDash val="solid"/>
              <a:miter/>
            </a:ln>
          </p:spPr>
        </p:sp>
        <p:sp>
          <p:nvSpPr>
            <p:cNvPr name="TextBox 4" id="4"/>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028700" y="9140065"/>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6384897" y="5379918"/>
            <a:ext cx="6059445" cy="605944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name="TextBox 8" id="8"/>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5720762" y="6964430"/>
            <a:ext cx="2000810" cy="4114800"/>
          </a:xfrm>
          <a:custGeom>
            <a:avLst/>
            <a:gdLst/>
            <a:ahLst/>
            <a:cxnLst/>
            <a:rect r="r" b="b" t="t" l="l"/>
            <a:pathLst>
              <a:path h="4114800" w="2000810">
                <a:moveTo>
                  <a:pt x="0" y="0"/>
                </a:moveTo>
                <a:lnTo>
                  <a:pt x="2000810" y="0"/>
                </a:lnTo>
                <a:lnTo>
                  <a:pt x="2000810" y="4114800"/>
                </a:lnTo>
                <a:lnTo>
                  <a:pt x="0" y="4114800"/>
                </a:lnTo>
                <a:lnTo>
                  <a:pt x="0" y="0"/>
                </a:lnTo>
                <a:close/>
              </a:path>
            </a:pathLst>
          </a:custGeom>
          <a:blipFill>
            <a:blip r:embed="rId4">
              <a:alphaModFix amt="53000"/>
              <a:extLst>
                <a:ext uri="{96DAC541-7B7A-43D3-8B79-37D633B846F1}">
                  <asvg:svgBlip xmlns:asvg="http://schemas.microsoft.com/office/drawing/2016/SVG/main" r:embed="rId5"/>
                </a:ext>
              </a:extLst>
            </a:blip>
            <a:stretch>
              <a:fillRect l="0" t="0" r="-204881" b="0"/>
            </a:stretch>
          </a:blipFill>
        </p:spPr>
      </p:sp>
      <p:grpSp>
        <p:nvGrpSpPr>
          <p:cNvPr name="Group 10" id="10"/>
          <p:cNvGrpSpPr/>
          <p:nvPr/>
        </p:nvGrpSpPr>
        <p:grpSpPr>
          <a:xfrm rot="0">
            <a:off x="11762088" y="-9632634"/>
            <a:ext cx="10994424" cy="1099442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D6220">
                  <a:alpha val="11765"/>
                </a:srgbClr>
              </a:solidFill>
              <a:prstDash val="solid"/>
              <a:miter/>
            </a:ln>
          </p:spPr>
        </p:sp>
        <p:sp>
          <p:nvSpPr>
            <p:cNvPr name="TextBox 12" id="12"/>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3373132" y="4114076"/>
            <a:ext cx="12198237" cy="2291464"/>
            <a:chOff x="0" y="0"/>
            <a:chExt cx="3212705" cy="603513"/>
          </a:xfrm>
        </p:grpSpPr>
        <p:sp>
          <p:nvSpPr>
            <p:cNvPr name="Freeform 14" id="14"/>
            <p:cNvSpPr/>
            <p:nvPr/>
          </p:nvSpPr>
          <p:spPr>
            <a:xfrm flipH="false" flipV="false" rot="0">
              <a:off x="0" y="0"/>
              <a:ext cx="3212704" cy="603513"/>
            </a:xfrm>
            <a:custGeom>
              <a:avLst/>
              <a:gdLst/>
              <a:ahLst/>
              <a:cxnLst/>
              <a:rect r="r" b="b" t="t" l="l"/>
              <a:pathLst>
                <a:path h="603513" w="3212704">
                  <a:moveTo>
                    <a:pt x="0" y="0"/>
                  </a:moveTo>
                  <a:lnTo>
                    <a:pt x="3212704" y="0"/>
                  </a:lnTo>
                  <a:lnTo>
                    <a:pt x="3212704" y="603513"/>
                  </a:lnTo>
                  <a:lnTo>
                    <a:pt x="0" y="603513"/>
                  </a:lnTo>
                  <a:close/>
                </a:path>
              </a:pathLst>
            </a:custGeom>
            <a:solidFill>
              <a:srgbClr val="FFFEFE"/>
            </a:solidFill>
          </p:spPr>
        </p:sp>
        <p:sp>
          <p:nvSpPr>
            <p:cNvPr name="TextBox 15" id="15"/>
            <p:cNvSpPr txBox="true"/>
            <p:nvPr/>
          </p:nvSpPr>
          <p:spPr>
            <a:xfrm>
              <a:off x="0" y="-28575"/>
              <a:ext cx="3212705" cy="632088"/>
            </a:xfrm>
            <a:prstGeom prst="rect">
              <a:avLst/>
            </a:prstGeom>
          </p:spPr>
          <p:txBody>
            <a:bodyPr anchor="ctr" rtlCol="false" tIns="50800" lIns="50800" bIns="50800" rIns="50800"/>
            <a:lstStyle/>
            <a:p>
              <a:pPr algn="ctr">
                <a:lnSpc>
                  <a:spcPts val="2380"/>
                </a:lnSpc>
              </a:pPr>
            </a:p>
          </p:txBody>
        </p:sp>
      </p:grpSp>
      <p:grpSp>
        <p:nvGrpSpPr>
          <p:cNvPr name="Group 16" id="16"/>
          <p:cNvGrpSpPr/>
          <p:nvPr/>
        </p:nvGrpSpPr>
        <p:grpSpPr>
          <a:xfrm rot="0">
            <a:off x="-9965724" y="-1383136"/>
            <a:ext cx="10994424" cy="1099442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D6220">
                  <a:alpha val="11765"/>
                </a:srgbClr>
              </a:solidFill>
              <a:prstDash val="solid"/>
              <a:miter/>
            </a:ln>
          </p:spPr>
        </p:sp>
        <p:sp>
          <p:nvSpPr>
            <p:cNvPr name="TextBox 18" id="18"/>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19" id="19"/>
          <p:cNvSpPr/>
          <p:nvPr/>
        </p:nvSpPr>
        <p:spPr>
          <a:xfrm flipH="false" flipV="false" rot="0">
            <a:off x="6846510" y="1567473"/>
            <a:ext cx="4614798" cy="2546603"/>
          </a:xfrm>
          <a:custGeom>
            <a:avLst/>
            <a:gdLst/>
            <a:ahLst/>
            <a:cxnLst/>
            <a:rect r="r" b="b" t="t" l="l"/>
            <a:pathLst>
              <a:path h="2546603" w="4614798">
                <a:moveTo>
                  <a:pt x="0" y="0"/>
                </a:moveTo>
                <a:lnTo>
                  <a:pt x="4614798" y="0"/>
                </a:lnTo>
                <a:lnTo>
                  <a:pt x="4614798" y="2546603"/>
                </a:lnTo>
                <a:lnTo>
                  <a:pt x="0" y="2546603"/>
                </a:lnTo>
                <a:lnTo>
                  <a:pt x="0" y="0"/>
                </a:lnTo>
                <a:close/>
              </a:path>
            </a:pathLst>
          </a:custGeom>
          <a:blipFill>
            <a:blip r:embed="rId6"/>
            <a:stretch>
              <a:fillRect l="0" t="0" r="0" b="0"/>
            </a:stretch>
          </a:blipFill>
        </p:spPr>
      </p:sp>
      <p:sp>
        <p:nvSpPr>
          <p:cNvPr name="TextBox 20" id="20"/>
          <p:cNvSpPr txBox="true"/>
          <p:nvPr/>
        </p:nvSpPr>
        <p:spPr>
          <a:xfrm rot="0">
            <a:off x="6088318" y="5807339"/>
            <a:ext cx="6131182" cy="946111"/>
          </a:xfrm>
          <a:prstGeom prst="rect">
            <a:avLst/>
          </a:prstGeom>
        </p:spPr>
        <p:txBody>
          <a:bodyPr anchor="t" rtlCol="false" tIns="0" lIns="0" bIns="0" rIns="0">
            <a:spAutoFit/>
          </a:bodyPr>
          <a:lstStyle/>
          <a:p>
            <a:pPr algn="ctr">
              <a:lnSpc>
                <a:spcPts val="7702"/>
              </a:lnSpc>
              <a:spcBef>
                <a:spcPct val="0"/>
              </a:spcBef>
            </a:pPr>
            <a:r>
              <a:rPr lang="en-US" b="true" sz="5501" spc="308">
                <a:solidFill>
                  <a:srgbClr val="191919"/>
                </a:solidFill>
                <a:latin typeface="Gotham Bold"/>
                <a:ea typeface="Gotham Bold"/>
                <a:cs typeface="Gotham Bold"/>
                <a:sym typeface="Gotham Bold"/>
              </a:rPr>
              <a:t>TRI WULAN 1</a:t>
            </a:r>
          </a:p>
        </p:txBody>
      </p:sp>
      <p:sp>
        <p:nvSpPr>
          <p:cNvPr name="TextBox 21" id="21"/>
          <p:cNvSpPr txBox="true"/>
          <p:nvPr/>
        </p:nvSpPr>
        <p:spPr>
          <a:xfrm rot="0">
            <a:off x="3901918" y="4165336"/>
            <a:ext cx="10484164" cy="1756304"/>
          </a:xfrm>
          <a:prstGeom prst="rect">
            <a:avLst/>
          </a:prstGeom>
        </p:spPr>
        <p:txBody>
          <a:bodyPr anchor="t" rtlCol="false" tIns="0" lIns="0" bIns="0" rIns="0">
            <a:spAutoFit/>
          </a:bodyPr>
          <a:lstStyle/>
          <a:p>
            <a:pPr algn="ctr">
              <a:lnSpc>
                <a:spcPts val="14346"/>
              </a:lnSpc>
              <a:spcBef>
                <a:spcPct val="0"/>
              </a:spcBef>
            </a:pPr>
            <a:r>
              <a:rPr lang="en-US" b="true" sz="10247" spc="1434">
                <a:solidFill>
                  <a:srgbClr val="191919"/>
                </a:solidFill>
                <a:latin typeface="Gotham Bold"/>
                <a:ea typeface="Gotham Bold"/>
                <a:cs typeface="Gotham Bold"/>
                <a:sym typeface="Gotham Bold"/>
              </a:rPr>
              <a:t>EVALUASI</a:t>
            </a:r>
          </a:p>
        </p:txBody>
      </p:sp>
      <p:sp>
        <p:nvSpPr>
          <p:cNvPr name="TextBox 22" id="22"/>
          <p:cNvSpPr txBox="true"/>
          <p:nvPr/>
        </p:nvSpPr>
        <p:spPr>
          <a:xfrm rot="0">
            <a:off x="6068500" y="8661165"/>
            <a:ext cx="6151000" cy="368300"/>
          </a:xfrm>
          <a:prstGeom prst="rect">
            <a:avLst/>
          </a:prstGeom>
        </p:spPr>
        <p:txBody>
          <a:bodyPr anchor="t" rtlCol="false" tIns="0" lIns="0" bIns="0" rIns="0">
            <a:spAutoFit/>
          </a:bodyPr>
          <a:lstStyle/>
          <a:p>
            <a:pPr algn="ctr">
              <a:lnSpc>
                <a:spcPts val="2800"/>
              </a:lnSpc>
              <a:spcBef>
                <a:spcPct val="0"/>
              </a:spcBef>
            </a:pPr>
            <a:r>
              <a:rPr lang="en-US" sz="2000" spc="1224">
                <a:solidFill>
                  <a:srgbClr val="191919"/>
                </a:solidFill>
                <a:latin typeface="Poppins"/>
                <a:ea typeface="Poppins"/>
                <a:cs typeface="Poppins"/>
                <a:sym typeface="Poppins"/>
              </a:rPr>
              <a:t>24/25</a:t>
            </a:r>
          </a:p>
        </p:txBody>
      </p:sp>
      <p:sp>
        <p:nvSpPr>
          <p:cNvPr name="TextBox 23" id="23"/>
          <p:cNvSpPr txBox="true"/>
          <p:nvPr/>
        </p:nvSpPr>
        <p:spPr>
          <a:xfrm rot="0">
            <a:off x="4885547" y="7300336"/>
            <a:ext cx="8516907" cy="1109305"/>
          </a:xfrm>
          <a:prstGeom prst="rect">
            <a:avLst/>
          </a:prstGeom>
        </p:spPr>
        <p:txBody>
          <a:bodyPr anchor="t" rtlCol="false" tIns="0" lIns="0" bIns="0" rIns="0">
            <a:spAutoFit/>
          </a:bodyPr>
          <a:lstStyle/>
          <a:p>
            <a:pPr algn="ctr">
              <a:lnSpc>
                <a:spcPts val="4482"/>
              </a:lnSpc>
              <a:spcBef>
                <a:spcPct val="0"/>
              </a:spcBef>
            </a:pPr>
            <a:r>
              <a:rPr lang="en-US" sz="3201" spc="179">
                <a:solidFill>
                  <a:srgbClr val="191919"/>
                </a:solidFill>
                <a:latin typeface="Gotham"/>
                <a:ea typeface="Gotham"/>
                <a:cs typeface="Gotham"/>
                <a:sym typeface="Gotham"/>
              </a:rPr>
              <a:t>Ketua Himpunan Mahasiswa Teknik Informatika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FFE"/>
        </a:solidFill>
      </p:bgPr>
    </p:bg>
    <p:spTree>
      <p:nvGrpSpPr>
        <p:cNvPr id="1" name=""/>
        <p:cNvGrpSpPr/>
        <p:nvPr/>
      </p:nvGrpSpPr>
      <p:grpSpPr>
        <a:xfrm>
          <a:off x="0" y="0"/>
          <a:ext cx="0" cy="0"/>
          <a:chOff x="0" y="0"/>
          <a:chExt cx="0" cy="0"/>
        </a:xfrm>
      </p:grpSpPr>
      <p:grpSp>
        <p:nvGrpSpPr>
          <p:cNvPr name="Group 2" id="2"/>
          <p:cNvGrpSpPr/>
          <p:nvPr/>
        </p:nvGrpSpPr>
        <p:grpSpPr>
          <a:xfrm rot="0">
            <a:off x="11958911" y="-8049758"/>
            <a:ext cx="10994424" cy="1099442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 cap="sq">
              <a:solidFill>
                <a:srgbClr val="FD6220"/>
              </a:solidFill>
              <a:prstDash val="solid"/>
              <a:miter/>
            </a:ln>
          </p:spPr>
        </p:sp>
        <p:sp>
          <p:nvSpPr>
            <p:cNvPr name="TextBox 4" id="4"/>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6313420" y="910465"/>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3491447" y="1400219"/>
            <a:ext cx="9274575" cy="1166451"/>
          </a:xfrm>
          <a:prstGeom prst="rect">
            <a:avLst/>
          </a:prstGeom>
        </p:spPr>
        <p:txBody>
          <a:bodyPr anchor="t" rtlCol="false" tIns="0" lIns="0" bIns="0" rIns="0">
            <a:spAutoFit/>
          </a:bodyPr>
          <a:lstStyle/>
          <a:p>
            <a:pPr algn="l">
              <a:lnSpc>
                <a:spcPts val="8646"/>
              </a:lnSpc>
            </a:pPr>
            <a:r>
              <a:rPr lang="en-US" b="true" sz="8913" spc="445">
                <a:solidFill>
                  <a:srgbClr val="FF0000"/>
                </a:solidFill>
                <a:latin typeface="Gotham Bold"/>
                <a:ea typeface="Gotham Bold"/>
                <a:cs typeface="Gotham Bold"/>
                <a:sym typeface="Gotham Bold"/>
              </a:rPr>
              <a:t>PEMBAHASAN</a:t>
            </a:r>
          </a:p>
        </p:txBody>
      </p:sp>
      <p:grpSp>
        <p:nvGrpSpPr>
          <p:cNvPr name="Group 7" id="7"/>
          <p:cNvGrpSpPr/>
          <p:nvPr/>
        </p:nvGrpSpPr>
        <p:grpSpPr>
          <a:xfrm rot="3945801">
            <a:off x="14620931" y="7898799"/>
            <a:ext cx="4776403" cy="477640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name="TextBox 9" id="9"/>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3945801">
            <a:off x="15143204" y="7280426"/>
            <a:ext cx="1577153" cy="3243522"/>
          </a:xfrm>
          <a:custGeom>
            <a:avLst/>
            <a:gdLst/>
            <a:ahLst/>
            <a:cxnLst/>
            <a:rect r="r" b="b" t="t" l="l"/>
            <a:pathLst>
              <a:path h="3243522" w="1577153">
                <a:moveTo>
                  <a:pt x="0" y="0"/>
                </a:moveTo>
                <a:lnTo>
                  <a:pt x="1577153" y="0"/>
                </a:lnTo>
                <a:lnTo>
                  <a:pt x="1577153" y="3243522"/>
                </a:lnTo>
                <a:lnTo>
                  <a:pt x="0" y="3243522"/>
                </a:lnTo>
                <a:lnTo>
                  <a:pt x="0" y="0"/>
                </a:lnTo>
                <a:close/>
              </a:path>
            </a:pathLst>
          </a:custGeom>
          <a:blipFill>
            <a:blip r:embed="rId4">
              <a:extLst>
                <a:ext uri="{96DAC541-7B7A-43D3-8B79-37D633B846F1}">
                  <asvg:svgBlip xmlns:asvg="http://schemas.microsoft.com/office/drawing/2016/SVG/main" r:embed="rId5"/>
                </a:ext>
              </a:extLst>
            </a:blip>
            <a:stretch>
              <a:fillRect l="0" t="0" r="-204881" b="0"/>
            </a:stretch>
          </a:blipFill>
        </p:spPr>
      </p:sp>
      <p:grpSp>
        <p:nvGrpSpPr>
          <p:cNvPr name="Group 11" id="11"/>
          <p:cNvGrpSpPr/>
          <p:nvPr/>
        </p:nvGrpSpPr>
        <p:grpSpPr>
          <a:xfrm rot="0">
            <a:off x="3491447" y="3107362"/>
            <a:ext cx="9751831" cy="5871932"/>
            <a:chOff x="0" y="0"/>
            <a:chExt cx="13002441" cy="7829242"/>
          </a:xfrm>
        </p:grpSpPr>
        <p:sp>
          <p:nvSpPr>
            <p:cNvPr name="TextBox 12" id="12"/>
            <p:cNvSpPr txBox="true"/>
            <p:nvPr/>
          </p:nvSpPr>
          <p:spPr>
            <a:xfrm rot="0">
              <a:off x="0" y="-114300"/>
              <a:ext cx="1205504" cy="1223803"/>
            </a:xfrm>
            <a:prstGeom prst="rect">
              <a:avLst/>
            </a:prstGeom>
          </p:spPr>
          <p:txBody>
            <a:bodyPr anchor="t" rtlCol="false" tIns="0" lIns="0" bIns="0" rIns="0">
              <a:spAutoFit/>
            </a:bodyPr>
            <a:lstStyle/>
            <a:p>
              <a:pPr algn="l">
                <a:lnSpc>
                  <a:spcPts val="7715"/>
                </a:lnSpc>
              </a:pPr>
              <a:r>
                <a:rPr lang="en-US" sz="5510" b="true">
                  <a:solidFill>
                    <a:srgbClr val="191919"/>
                  </a:solidFill>
                  <a:latin typeface="Gotham Bold"/>
                  <a:ea typeface="Gotham Bold"/>
                  <a:cs typeface="Gotham Bold"/>
                  <a:sym typeface="Gotham Bold"/>
                </a:rPr>
                <a:t>1. </a:t>
              </a:r>
            </a:p>
          </p:txBody>
        </p:sp>
        <p:sp>
          <p:nvSpPr>
            <p:cNvPr name="TextBox 13" id="13"/>
            <p:cNvSpPr txBox="true"/>
            <p:nvPr/>
          </p:nvSpPr>
          <p:spPr>
            <a:xfrm rot="0">
              <a:off x="0" y="1522113"/>
              <a:ext cx="1205504" cy="1223803"/>
            </a:xfrm>
            <a:prstGeom prst="rect">
              <a:avLst/>
            </a:prstGeom>
          </p:spPr>
          <p:txBody>
            <a:bodyPr anchor="t" rtlCol="false" tIns="0" lIns="0" bIns="0" rIns="0">
              <a:spAutoFit/>
            </a:bodyPr>
            <a:lstStyle/>
            <a:p>
              <a:pPr algn="l">
                <a:lnSpc>
                  <a:spcPts val="7715"/>
                </a:lnSpc>
              </a:pPr>
              <a:r>
                <a:rPr lang="en-US" sz="5510" b="true">
                  <a:solidFill>
                    <a:srgbClr val="191919"/>
                  </a:solidFill>
                  <a:latin typeface="Gotham Bold"/>
                  <a:ea typeface="Gotham Bold"/>
                  <a:cs typeface="Gotham Bold"/>
                  <a:sym typeface="Gotham Bold"/>
                </a:rPr>
                <a:t>2.</a:t>
              </a:r>
            </a:p>
          </p:txBody>
        </p:sp>
        <p:sp>
          <p:nvSpPr>
            <p:cNvPr name="TextBox 14" id="14"/>
            <p:cNvSpPr txBox="true"/>
            <p:nvPr/>
          </p:nvSpPr>
          <p:spPr>
            <a:xfrm rot="0">
              <a:off x="0" y="3156018"/>
              <a:ext cx="1205504" cy="1223803"/>
            </a:xfrm>
            <a:prstGeom prst="rect">
              <a:avLst/>
            </a:prstGeom>
          </p:spPr>
          <p:txBody>
            <a:bodyPr anchor="t" rtlCol="false" tIns="0" lIns="0" bIns="0" rIns="0">
              <a:spAutoFit/>
            </a:bodyPr>
            <a:lstStyle/>
            <a:p>
              <a:pPr algn="l">
                <a:lnSpc>
                  <a:spcPts val="7715"/>
                </a:lnSpc>
              </a:pPr>
              <a:r>
                <a:rPr lang="en-US" sz="5510" b="true">
                  <a:solidFill>
                    <a:srgbClr val="191919"/>
                  </a:solidFill>
                  <a:latin typeface="Gotham Bold"/>
                  <a:ea typeface="Gotham Bold"/>
                  <a:cs typeface="Gotham Bold"/>
                  <a:sym typeface="Gotham Bold"/>
                </a:rPr>
                <a:t>3.</a:t>
              </a:r>
            </a:p>
          </p:txBody>
        </p:sp>
        <p:sp>
          <p:nvSpPr>
            <p:cNvPr name="TextBox 15" id="15"/>
            <p:cNvSpPr txBox="true"/>
            <p:nvPr/>
          </p:nvSpPr>
          <p:spPr>
            <a:xfrm rot="0">
              <a:off x="0" y="4892611"/>
              <a:ext cx="1205504" cy="1223803"/>
            </a:xfrm>
            <a:prstGeom prst="rect">
              <a:avLst/>
            </a:prstGeom>
          </p:spPr>
          <p:txBody>
            <a:bodyPr anchor="t" rtlCol="false" tIns="0" lIns="0" bIns="0" rIns="0">
              <a:spAutoFit/>
            </a:bodyPr>
            <a:lstStyle/>
            <a:p>
              <a:pPr algn="l">
                <a:lnSpc>
                  <a:spcPts val="7715"/>
                </a:lnSpc>
              </a:pPr>
              <a:r>
                <a:rPr lang="en-US" sz="5510" b="true">
                  <a:solidFill>
                    <a:srgbClr val="191919"/>
                  </a:solidFill>
                  <a:latin typeface="Gotham Bold"/>
                  <a:ea typeface="Gotham Bold"/>
                  <a:cs typeface="Gotham Bold"/>
                  <a:sym typeface="Gotham Bold"/>
                </a:rPr>
                <a:t>4.</a:t>
              </a:r>
            </a:p>
          </p:txBody>
        </p:sp>
        <p:sp>
          <p:nvSpPr>
            <p:cNvPr name="TextBox 16" id="16"/>
            <p:cNvSpPr txBox="true"/>
            <p:nvPr/>
          </p:nvSpPr>
          <p:spPr>
            <a:xfrm rot="0">
              <a:off x="0" y="6605439"/>
              <a:ext cx="1205504" cy="1223803"/>
            </a:xfrm>
            <a:prstGeom prst="rect">
              <a:avLst/>
            </a:prstGeom>
          </p:spPr>
          <p:txBody>
            <a:bodyPr anchor="t" rtlCol="false" tIns="0" lIns="0" bIns="0" rIns="0">
              <a:spAutoFit/>
            </a:bodyPr>
            <a:lstStyle/>
            <a:p>
              <a:pPr algn="l">
                <a:lnSpc>
                  <a:spcPts val="7715"/>
                </a:lnSpc>
              </a:pPr>
              <a:r>
                <a:rPr lang="en-US" sz="5510" b="true">
                  <a:solidFill>
                    <a:srgbClr val="191919"/>
                  </a:solidFill>
                  <a:latin typeface="Gotham Bold"/>
                  <a:ea typeface="Gotham Bold"/>
                  <a:cs typeface="Gotham Bold"/>
                  <a:sym typeface="Gotham Bold"/>
                </a:rPr>
                <a:t>5.</a:t>
              </a:r>
            </a:p>
          </p:txBody>
        </p:sp>
        <p:sp>
          <p:nvSpPr>
            <p:cNvPr name="TextBox 17" id="17"/>
            <p:cNvSpPr txBox="true"/>
            <p:nvPr/>
          </p:nvSpPr>
          <p:spPr>
            <a:xfrm rot="0">
              <a:off x="1473310" y="20199"/>
              <a:ext cx="6680992" cy="1089304"/>
            </a:xfrm>
            <a:prstGeom prst="rect">
              <a:avLst/>
            </a:prstGeom>
          </p:spPr>
          <p:txBody>
            <a:bodyPr anchor="t" rtlCol="false" tIns="0" lIns="0" bIns="0" rIns="0">
              <a:spAutoFit/>
            </a:bodyPr>
            <a:lstStyle/>
            <a:p>
              <a:pPr algn="l">
                <a:lnSpc>
                  <a:spcPts val="6825"/>
                </a:lnSpc>
              </a:pPr>
              <a:r>
                <a:rPr lang="en-US" sz="4875" b="true">
                  <a:solidFill>
                    <a:srgbClr val="191919"/>
                  </a:solidFill>
                  <a:latin typeface="Gotham Bold"/>
                  <a:ea typeface="Gotham Bold"/>
                  <a:cs typeface="Gotham Bold"/>
                  <a:sym typeface="Gotham Bold"/>
                </a:rPr>
                <a:t>Pendahuluan</a:t>
              </a:r>
            </a:p>
          </p:txBody>
        </p:sp>
        <p:sp>
          <p:nvSpPr>
            <p:cNvPr name="TextBox 18" id="18"/>
            <p:cNvSpPr txBox="true"/>
            <p:nvPr/>
          </p:nvSpPr>
          <p:spPr>
            <a:xfrm rot="0">
              <a:off x="1493480" y="1656612"/>
              <a:ext cx="11508961" cy="1089304"/>
            </a:xfrm>
            <a:prstGeom prst="rect">
              <a:avLst/>
            </a:prstGeom>
          </p:spPr>
          <p:txBody>
            <a:bodyPr anchor="t" rtlCol="false" tIns="0" lIns="0" bIns="0" rIns="0">
              <a:spAutoFit/>
            </a:bodyPr>
            <a:lstStyle/>
            <a:p>
              <a:pPr algn="l">
                <a:lnSpc>
                  <a:spcPts val="6825"/>
                </a:lnSpc>
              </a:pPr>
              <a:r>
                <a:rPr lang="en-US" sz="4875" b="true">
                  <a:solidFill>
                    <a:srgbClr val="191919"/>
                  </a:solidFill>
                  <a:latin typeface="Gotham Bold"/>
                  <a:ea typeface="Gotham Bold"/>
                  <a:cs typeface="Gotham Bold"/>
                  <a:sym typeface="Gotham Bold"/>
                </a:rPr>
                <a:t>Tugas Pokok dan Fungsi</a:t>
              </a:r>
            </a:p>
          </p:txBody>
        </p:sp>
        <p:sp>
          <p:nvSpPr>
            <p:cNvPr name="TextBox 19" id="19"/>
            <p:cNvSpPr txBox="true"/>
            <p:nvPr/>
          </p:nvSpPr>
          <p:spPr>
            <a:xfrm rot="0">
              <a:off x="1493480" y="3300391"/>
              <a:ext cx="4086709" cy="1089304"/>
            </a:xfrm>
            <a:prstGeom prst="rect">
              <a:avLst/>
            </a:prstGeom>
          </p:spPr>
          <p:txBody>
            <a:bodyPr anchor="t" rtlCol="false" tIns="0" lIns="0" bIns="0" rIns="0">
              <a:spAutoFit/>
            </a:bodyPr>
            <a:lstStyle/>
            <a:p>
              <a:pPr algn="l">
                <a:lnSpc>
                  <a:spcPts val="6825"/>
                </a:lnSpc>
              </a:pPr>
              <a:r>
                <a:rPr lang="en-US" sz="4875" b="true">
                  <a:solidFill>
                    <a:srgbClr val="191919"/>
                  </a:solidFill>
                  <a:latin typeface="Gotham Bold"/>
                  <a:ea typeface="Gotham Bold"/>
                  <a:cs typeface="Gotham Bold"/>
                  <a:sym typeface="Gotham Bold"/>
                </a:rPr>
                <a:t>Evaluasi</a:t>
              </a:r>
            </a:p>
          </p:txBody>
        </p:sp>
        <p:sp>
          <p:nvSpPr>
            <p:cNvPr name="TextBox 20" id="20"/>
            <p:cNvSpPr txBox="true"/>
            <p:nvPr/>
          </p:nvSpPr>
          <p:spPr>
            <a:xfrm rot="0">
              <a:off x="1493480" y="5106033"/>
              <a:ext cx="4204522" cy="1089304"/>
            </a:xfrm>
            <a:prstGeom prst="rect">
              <a:avLst/>
            </a:prstGeom>
          </p:spPr>
          <p:txBody>
            <a:bodyPr anchor="t" rtlCol="false" tIns="0" lIns="0" bIns="0" rIns="0">
              <a:spAutoFit/>
            </a:bodyPr>
            <a:lstStyle/>
            <a:p>
              <a:pPr algn="l">
                <a:lnSpc>
                  <a:spcPts val="6825"/>
                </a:lnSpc>
              </a:pPr>
              <a:r>
                <a:rPr lang="en-US" sz="4875" b="true">
                  <a:solidFill>
                    <a:srgbClr val="191919"/>
                  </a:solidFill>
                  <a:latin typeface="Gotham Bold"/>
                  <a:ea typeface="Gotham Bold"/>
                  <a:cs typeface="Gotham Bold"/>
                  <a:sym typeface="Gotham Bold"/>
                </a:rPr>
                <a:t>Proyeksi</a:t>
              </a:r>
            </a:p>
          </p:txBody>
        </p:sp>
        <p:sp>
          <p:nvSpPr>
            <p:cNvPr name="TextBox 21" id="21"/>
            <p:cNvSpPr txBox="true"/>
            <p:nvPr/>
          </p:nvSpPr>
          <p:spPr>
            <a:xfrm rot="0">
              <a:off x="1473310" y="6648741"/>
              <a:ext cx="4616869" cy="1089304"/>
            </a:xfrm>
            <a:prstGeom prst="rect">
              <a:avLst/>
            </a:prstGeom>
          </p:spPr>
          <p:txBody>
            <a:bodyPr anchor="t" rtlCol="false" tIns="0" lIns="0" bIns="0" rIns="0">
              <a:spAutoFit/>
            </a:bodyPr>
            <a:lstStyle/>
            <a:p>
              <a:pPr algn="l">
                <a:lnSpc>
                  <a:spcPts val="6825"/>
                </a:lnSpc>
              </a:pPr>
              <a:r>
                <a:rPr lang="en-US" sz="4875" b="true">
                  <a:solidFill>
                    <a:srgbClr val="191919"/>
                  </a:solidFill>
                  <a:latin typeface="Gotham Bold"/>
                  <a:ea typeface="Gotham Bold"/>
                  <a:cs typeface="Gotham Bold"/>
                  <a:sym typeface="Gotham Bold"/>
                </a:rPr>
                <a:t>Penutup</a:t>
              </a:r>
            </a:p>
          </p:txBody>
        </p:sp>
      </p:grpSp>
      <p:sp>
        <p:nvSpPr>
          <p:cNvPr name="Freeform 22" id="22"/>
          <p:cNvSpPr/>
          <p:nvPr/>
        </p:nvSpPr>
        <p:spPr>
          <a:xfrm flipH="false" flipV="false" rot="0">
            <a:off x="1028700" y="9021830"/>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FFE"/>
        </a:solidFill>
      </p:bgPr>
    </p:bg>
    <p:spTree>
      <p:nvGrpSpPr>
        <p:cNvPr id="1" name=""/>
        <p:cNvGrpSpPr/>
        <p:nvPr/>
      </p:nvGrpSpPr>
      <p:grpSpPr>
        <a:xfrm>
          <a:off x="0" y="0"/>
          <a:ext cx="0" cy="0"/>
          <a:chOff x="0" y="0"/>
          <a:chExt cx="0" cy="0"/>
        </a:xfrm>
      </p:grpSpPr>
      <p:grpSp>
        <p:nvGrpSpPr>
          <p:cNvPr name="Group 2" id="2"/>
          <p:cNvGrpSpPr/>
          <p:nvPr/>
        </p:nvGrpSpPr>
        <p:grpSpPr>
          <a:xfrm rot="0">
            <a:off x="13120058" y="-9609097"/>
            <a:ext cx="12753441" cy="1275344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61950" cap="sq">
              <a:solidFill>
                <a:srgbClr val="FD6220">
                  <a:alpha val="25882"/>
                </a:srgbClr>
              </a:solidFill>
              <a:prstDash val="solid"/>
              <a:miter/>
            </a:ln>
          </p:spPr>
        </p:sp>
        <p:sp>
          <p:nvSpPr>
            <p:cNvPr name="TextBox 4" id="4"/>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6786360" y="214994"/>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443112" y="968380"/>
            <a:ext cx="8713122" cy="1285871"/>
          </a:xfrm>
          <a:prstGeom prst="rect">
            <a:avLst/>
          </a:prstGeom>
        </p:spPr>
        <p:txBody>
          <a:bodyPr anchor="t" rtlCol="false" tIns="0" lIns="0" bIns="0" rIns="0">
            <a:spAutoFit/>
          </a:bodyPr>
          <a:lstStyle/>
          <a:p>
            <a:pPr algn="l">
              <a:lnSpc>
                <a:spcPts val="10500"/>
              </a:lnSpc>
            </a:pPr>
            <a:r>
              <a:rPr lang="en-US" b="true" sz="7500">
                <a:solidFill>
                  <a:srgbClr val="FD6220"/>
                </a:solidFill>
                <a:latin typeface="Gotham Bold"/>
                <a:ea typeface="Gotham Bold"/>
                <a:cs typeface="Gotham Bold"/>
                <a:sym typeface="Gotham Bold"/>
              </a:rPr>
              <a:t>PENDAHULUAN</a:t>
            </a:r>
          </a:p>
        </p:txBody>
      </p:sp>
      <p:sp>
        <p:nvSpPr>
          <p:cNvPr name="TextBox 7" id="7"/>
          <p:cNvSpPr txBox="true"/>
          <p:nvPr/>
        </p:nvSpPr>
        <p:spPr>
          <a:xfrm rot="0">
            <a:off x="2443112" y="2680924"/>
            <a:ext cx="15289128" cy="6246505"/>
          </a:xfrm>
          <a:prstGeom prst="rect">
            <a:avLst/>
          </a:prstGeom>
        </p:spPr>
        <p:txBody>
          <a:bodyPr anchor="t" rtlCol="false" tIns="0" lIns="0" bIns="0" rIns="0">
            <a:spAutoFit/>
          </a:bodyPr>
          <a:lstStyle/>
          <a:p>
            <a:pPr algn="just">
              <a:lnSpc>
                <a:spcPts val="3298"/>
              </a:lnSpc>
            </a:pPr>
            <a:r>
              <a:rPr lang="en-US" b="true" sz="2443" spc="61">
                <a:solidFill>
                  <a:srgbClr val="191919"/>
                </a:solidFill>
                <a:latin typeface="Gotham Bold"/>
                <a:ea typeface="Gotham Bold"/>
                <a:cs typeface="Gotham Bold"/>
                <a:sym typeface="Gotham Bold"/>
              </a:rPr>
              <a:t>Assalamualaikum Wr. Wb.</a:t>
            </a:r>
          </a:p>
          <a:p>
            <a:pPr algn="just">
              <a:lnSpc>
                <a:spcPts val="3298"/>
              </a:lnSpc>
            </a:pPr>
            <a:r>
              <a:rPr lang="en-US" b="true" sz="2443" spc="61">
                <a:solidFill>
                  <a:srgbClr val="191919"/>
                </a:solidFill>
                <a:latin typeface="Gotham Bold"/>
                <a:ea typeface="Gotham Bold"/>
                <a:cs typeface="Gotham Bold"/>
                <a:sym typeface="Gotham Bold"/>
              </a:rPr>
              <a:t>Bismillahirrohmanirrohim.</a:t>
            </a:r>
          </a:p>
          <a:p>
            <a:pPr algn="just">
              <a:lnSpc>
                <a:spcPts val="3298"/>
              </a:lnSpc>
            </a:pPr>
            <a:r>
              <a:rPr lang="en-US" b="true" sz="2443" spc="61">
                <a:solidFill>
                  <a:srgbClr val="191919"/>
                </a:solidFill>
                <a:latin typeface="Gotham Bold"/>
                <a:ea typeface="Gotham Bold"/>
                <a:cs typeface="Gotham Bold"/>
                <a:sym typeface="Gotham Bold"/>
              </a:rPr>
              <a:t>Puji syukur kehadirat Allah SWT yang telah melimpahkan rahmat dan karunia-Nya, serta sholawat dan salam kepada junjungan kita Nabi Muhammad SAW, sehingga kita dapat berkumpul dalam kegiatan Tri Wulan Pertama ini. Saya ingin menyampaikan terima kasih yang sebesar-besarnya atas kehadiran dan dedikasi seluruh rekan-rekan pengurus HIMATIF Angkatan 17' yang telah menyukseskan berbagai program kerja hingga saat ini.</a:t>
            </a:r>
          </a:p>
          <a:p>
            <a:pPr algn="just">
              <a:lnSpc>
                <a:spcPts val="3298"/>
              </a:lnSpc>
            </a:pPr>
          </a:p>
          <a:p>
            <a:pPr algn="just">
              <a:lnSpc>
                <a:spcPts val="3298"/>
              </a:lnSpc>
            </a:pPr>
            <a:r>
              <a:rPr lang="en-US" b="true" sz="2443" spc="61">
                <a:solidFill>
                  <a:srgbClr val="191919"/>
                </a:solidFill>
                <a:latin typeface="Gotham Bold"/>
                <a:ea typeface="Gotham Bold"/>
                <a:cs typeface="Gotham Bold"/>
                <a:sym typeface="Gotham Bold"/>
              </a:rPr>
              <a:t>Sebagai Ketua Himpunan Mahasiswa Teknik Informatika, saya merasa perlu untuk memaparkan secara menyeluruh Laporan Pertanggungjawaban Kinerja kepengurusan yang telah saya jalankan selama enam bulan di HIMATIF POLINDRA. Paparan ini bertujuan untuk memastikan transparansi, mengevaluasi setiap langkah yang telah diambil, dan menjadi bekal bagi kita untuk merumuskan arah dan langkah yang lebih strategis untuk selanjutnya.</a:t>
            </a:r>
          </a:p>
          <a:p>
            <a:pPr algn="just">
              <a:lnSpc>
                <a:spcPts val="3298"/>
              </a:lnSpc>
            </a:pPr>
            <a:r>
              <a:rPr lang="en-US" b="true" sz="2443" spc="61">
                <a:solidFill>
                  <a:srgbClr val="191919"/>
                </a:solidFill>
                <a:latin typeface="Gotham Bold"/>
                <a:ea typeface="Gotham Bold"/>
                <a:cs typeface="Gotham Bold"/>
                <a:sym typeface="Gotham Bold"/>
              </a:rPr>
              <a:t>Wassalamu'alaikum Wr. Wb.</a:t>
            </a:r>
          </a:p>
          <a:p>
            <a:pPr algn="l">
              <a:lnSpc>
                <a:spcPts val="3298"/>
              </a:lnSpc>
            </a:pPr>
          </a:p>
        </p:txBody>
      </p:sp>
      <p:sp>
        <p:nvSpPr>
          <p:cNvPr name="Freeform 8" id="8"/>
          <p:cNvSpPr/>
          <p:nvPr/>
        </p:nvSpPr>
        <p:spPr>
          <a:xfrm flipH="false" flipV="false" rot="0">
            <a:off x="1028700" y="9140065"/>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FFE"/>
        </a:solidFill>
      </p:bgPr>
    </p:bg>
    <p:spTree>
      <p:nvGrpSpPr>
        <p:cNvPr id="1" name=""/>
        <p:cNvGrpSpPr/>
        <p:nvPr/>
      </p:nvGrpSpPr>
      <p:grpSpPr>
        <a:xfrm>
          <a:off x="0" y="0"/>
          <a:ext cx="0" cy="0"/>
          <a:chOff x="0" y="0"/>
          <a:chExt cx="0" cy="0"/>
        </a:xfrm>
      </p:grpSpPr>
      <p:grpSp>
        <p:nvGrpSpPr>
          <p:cNvPr name="Group 2" id="2"/>
          <p:cNvGrpSpPr/>
          <p:nvPr/>
        </p:nvGrpSpPr>
        <p:grpSpPr>
          <a:xfrm rot="0">
            <a:off x="13120058" y="-9609097"/>
            <a:ext cx="12753441" cy="1275344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61950" cap="sq">
              <a:solidFill>
                <a:srgbClr val="FD6220">
                  <a:alpha val="25882"/>
                </a:srgbClr>
              </a:solidFill>
              <a:prstDash val="solid"/>
              <a:miter/>
            </a:ln>
          </p:spPr>
        </p:sp>
        <p:sp>
          <p:nvSpPr>
            <p:cNvPr name="TextBox 4" id="4"/>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6786360" y="214994"/>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374554" y="318114"/>
            <a:ext cx="8713122" cy="3480431"/>
          </a:xfrm>
          <a:prstGeom prst="rect">
            <a:avLst/>
          </a:prstGeom>
        </p:spPr>
        <p:txBody>
          <a:bodyPr anchor="t" rtlCol="false" tIns="0" lIns="0" bIns="0" rIns="0">
            <a:spAutoFit/>
          </a:bodyPr>
          <a:lstStyle/>
          <a:p>
            <a:pPr algn="l">
              <a:lnSpc>
                <a:spcPts val="9240"/>
              </a:lnSpc>
            </a:pPr>
            <a:r>
              <a:rPr lang="en-US" sz="6600" b="true">
                <a:solidFill>
                  <a:srgbClr val="FD6220"/>
                </a:solidFill>
                <a:latin typeface="Gotham Bold"/>
                <a:ea typeface="Gotham Bold"/>
                <a:cs typeface="Gotham Bold"/>
                <a:sym typeface="Gotham Bold"/>
              </a:rPr>
              <a:t>TUGAS </a:t>
            </a:r>
            <a:r>
              <a:rPr lang="en-US" sz="6600" b="true">
                <a:solidFill>
                  <a:srgbClr val="FD6220"/>
                </a:solidFill>
                <a:latin typeface="Gotham Bold"/>
                <a:ea typeface="Gotham Bold"/>
                <a:cs typeface="Gotham Bold"/>
                <a:sym typeface="Gotham Bold"/>
              </a:rPr>
              <a:t>POKOK DAN FUNGSI</a:t>
            </a:r>
          </a:p>
          <a:p>
            <a:pPr algn="l">
              <a:lnSpc>
                <a:spcPts val="9240"/>
              </a:lnSpc>
            </a:pPr>
          </a:p>
        </p:txBody>
      </p:sp>
      <p:sp>
        <p:nvSpPr>
          <p:cNvPr name="TextBox 7" id="7"/>
          <p:cNvSpPr txBox="true"/>
          <p:nvPr/>
        </p:nvSpPr>
        <p:spPr>
          <a:xfrm rot="0">
            <a:off x="2443112" y="2986522"/>
            <a:ext cx="15289128" cy="6135177"/>
          </a:xfrm>
          <a:prstGeom prst="rect">
            <a:avLst/>
          </a:prstGeom>
        </p:spPr>
        <p:txBody>
          <a:bodyPr anchor="t" rtlCol="false" tIns="0" lIns="0" bIns="0" rIns="0">
            <a:spAutoFit/>
          </a:bodyPr>
          <a:lstStyle/>
          <a:p>
            <a:pPr algn="just" marL="527548" indent="-263774" lvl="1">
              <a:lnSpc>
                <a:spcPts val="3298"/>
              </a:lnSpc>
              <a:buFont typeface="Arial"/>
              <a:buChar char="•"/>
            </a:pPr>
            <a:r>
              <a:rPr lang="en-US" b="true" sz="2443" spc="61">
                <a:solidFill>
                  <a:srgbClr val="191919"/>
                </a:solidFill>
                <a:latin typeface="Gotham Bold"/>
                <a:ea typeface="Gotham Bold"/>
                <a:cs typeface="Gotham Bold"/>
                <a:sym typeface="Gotham Bold"/>
              </a:rPr>
              <a:t>Melaksanakan kepemimpinan dengan bertanggung jawab atas jalannya kepengurusan HIMATIF selama masa periode.</a:t>
            </a:r>
          </a:p>
          <a:p>
            <a:pPr algn="just" marL="527548" indent="-263774" lvl="1">
              <a:lnSpc>
                <a:spcPts val="3298"/>
              </a:lnSpc>
              <a:buFont typeface="Arial"/>
              <a:buChar char="•"/>
            </a:pPr>
            <a:r>
              <a:rPr lang="en-US" b="true" sz="2443" spc="61">
                <a:solidFill>
                  <a:srgbClr val="191919"/>
                </a:solidFill>
                <a:latin typeface="Gotham Bold"/>
                <a:ea typeface="Gotham Bold"/>
                <a:cs typeface="Gotham Bold"/>
                <a:sym typeface="Gotham Bold"/>
              </a:rPr>
              <a:t>Memimpin,mengendalikan, mengkoordinasikan dan mengawasi pelaksanaan kegiatan organisasi sesuai dengan AD/ART.</a:t>
            </a:r>
          </a:p>
          <a:p>
            <a:pPr algn="just" marL="527548" indent="-263774" lvl="1">
              <a:lnSpc>
                <a:spcPts val="3298"/>
              </a:lnSpc>
              <a:buFont typeface="Arial"/>
              <a:buChar char="•"/>
            </a:pPr>
            <a:r>
              <a:rPr lang="en-US" b="true" sz="2443" spc="61">
                <a:solidFill>
                  <a:srgbClr val="191919"/>
                </a:solidFill>
                <a:latin typeface="Gotham Bold"/>
                <a:ea typeface="Gotham Bold"/>
                <a:cs typeface="Gotham Bold"/>
                <a:sym typeface="Gotham Bold"/>
              </a:rPr>
              <a:t>Memimpin rapat pengurus harian, rapat koordinasi, rapat program kerja, evaluasi tri wulan.</a:t>
            </a:r>
          </a:p>
          <a:p>
            <a:pPr algn="just" marL="527548" indent="-263774" lvl="1">
              <a:lnSpc>
                <a:spcPts val="3298"/>
              </a:lnSpc>
              <a:buFont typeface="Arial"/>
              <a:buChar char="•"/>
            </a:pPr>
            <a:r>
              <a:rPr lang="en-US" b="true" sz="2443" spc="61">
                <a:solidFill>
                  <a:srgbClr val="191919"/>
                </a:solidFill>
                <a:latin typeface="Gotham Bold"/>
                <a:ea typeface="Gotham Bold"/>
                <a:cs typeface="Gotham Bold"/>
                <a:sym typeface="Gotham Bold"/>
              </a:rPr>
              <a:t>Memegang otoritas dalam pengambilan keputusan yang menyangkut organisasi dengan mempertimbangkan usulan dari sesama pengurus.</a:t>
            </a:r>
          </a:p>
          <a:p>
            <a:pPr algn="just" marL="527548" indent="-263774" lvl="1">
              <a:lnSpc>
                <a:spcPts val="3298"/>
              </a:lnSpc>
              <a:buFont typeface="Arial"/>
              <a:buChar char="•"/>
            </a:pPr>
            <a:r>
              <a:rPr lang="en-US" b="true" sz="2443" spc="61">
                <a:solidFill>
                  <a:srgbClr val="191919"/>
                </a:solidFill>
                <a:latin typeface="Gotham Bold"/>
                <a:ea typeface="Gotham Bold"/>
                <a:cs typeface="Gotham Bold"/>
                <a:sym typeface="Gotham Bold"/>
              </a:rPr>
              <a:t>Bersama sekretaris menandatangani semua Surat Keputusan dan Peraturan Organisasi.</a:t>
            </a:r>
          </a:p>
          <a:p>
            <a:pPr algn="just" marL="527548" indent="-263774" lvl="1">
              <a:lnSpc>
                <a:spcPts val="3298"/>
              </a:lnSpc>
              <a:buFont typeface="Arial"/>
              <a:buChar char="•"/>
            </a:pPr>
            <a:r>
              <a:rPr lang="en-US" b="true" sz="2443" spc="61">
                <a:solidFill>
                  <a:srgbClr val="191919"/>
                </a:solidFill>
                <a:latin typeface="Gotham Bold"/>
                <a:ea typeface="Gotham Bold"/>
                <a:cs typeface="Gotham Bold"/>
                <a:sym typeface="Gotham Bold"/>
              </a:rPr>
              <a:t>Mempertimbangkan dan menyetujui tentang keluar dan masuk keuangan organisasi.</a:t>
            </a:r>
          </a:p>
          <a:p>
            <a:pPr algn="just" marL="527548" indent="-263774" lvl="1">
              <a:lnSpc>
                <a:spcPts val="3298"/>
              </a:lnSpc>
              <a:buFont typeface="Arial"/>
              <a:buChar char="•"/>
            </a:pPr>
            <a:r>
              <a:rPr lang="en-US" b="true" sz="2443" spc="61">
                <a:solidFill>
                  <a:srgbClr val="191919"/>
                </a:solidFill>
                <a:latin typeface="Gotham Bold"/>
                <a:ea typeface="Gotham Bold"/>
                <a:cs typeface="Gotham Bold"/>
                <a:sym typeface="Gotham Bold"/>
              </a:rPr>
              <a:t>Merumuskan dan membuat SOP organisasi bersama pengurus harian.</a:t>
            </a:r>
          </a:p>
          <a:p>
            <a:pPr algn="just" marL="527548" indent="-263774" lvl="1">
              <a:lnSpc>
                <a:spcPts val="3298"/>
              </a:lnSpc>
              <a:buFont typeface="Arial"/>
              <a:buChar char="•"/>
            </a:pPr>
            <a:r>
              <a:rPr lang="en-US" b="true" sz="2443" spc="61">
                <a:solidFill>
                  <a:srgbClr val="191919"/>
                </a:solidFill>
                <a:latin typeface="Gotham Bold"/>
                <a:ea typeface="Gotham Bold"/>
                <a:cs typeface="Gotham Bold"/>
                <a:sym typeface="Gotham Bold"/>
              </a:rPr>
              <a:t>Menjalankan rapat prakerja serta rapat koordinasi bersama pengurus.</a:t>
            </a:r>
          </a:p>
          <a:p>
            <a:pPr algn="just" marL="527548" indent="-263774" lvl="1">
              <a:lnSpc>
                <a:spcPts val="3298"/>
              </a:lnSpc>
              <a:buFont typeface="Arial"/>
              <a:buChar char="•"/>
            </a:pPr>
            <a:r>
              <a:rPr lang="en-US" b="true" sz="2443" spc="61">
                <a:solidFill>
                  <a:srgbClr val="191919"/>
                </a:solidFill>
                <a:latin typeface="Gotham Bold"/>
                <a:ea typeface="Gotham Bold"/>
                <a:cs typeface="Gotham Bold"/>
                <a:sym typeface="Gotham Bold"/>
              </a:rPr>
              <a:t>Membuat Job Description divisi dan sub divisi.</a:t>
            </a:r>
          </a:p>
          <a:p>
            <a:pPr algn="just" marL="527548" indent="-263774" lvl="1">
              <a:lnSpc>
                <a:spcPts val="3298"/>
              </a:lnSpc>
              <a:buFont typeface="Arial"/>
              <a:buChar char="•"/>
            </a:pPr>
            <a:r>
              <a:rPr lang="en-US" b="true" sz="2443" spc="61">
                <a:solidFill>
                  <a:srgbClr val="191919"/>
                </a:solidFill>
                <a:latin typeface="Gotham Bold"/>
                <a:ea typeface="Gotham Bold"/>
                <a:cs typeface="Gotham Bold"/>
                <a:sym typeface="Gotham Bold"/>
              </a:rPr>
              <a:t>Berkoordinasi dengan Pembina dan DPM disetiap pelaksanaan kegiatan.</a:t>
            </a:r>
          </a:p>
          <a:p>
            <a:pPr algn="just">
              <a:lnSpc>
                <a:spcPts val="3298"/>
              </a:lnSpc>
            </a:pP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FFFFE"/>
        </a:solidFill>
      </p:bgPr>
    </p:bg>
    <p:spTree>
      <p:nvGrpSpPr>
        <p:cNvPr id="1" name=""/>
        <p:cNvGrpSpPr/>
        <p:nvPr/>
      </p:nvGrpSpPr>
      <p:grpSpPr>
        <a:xfrm>
          <a:off x="0" y="0"/>
          <a:ext cx="0" cy="0"/>
          <a:chOff x="0" y="0"/>
          <a:chExt cx="0" cy="0"/>
        </a:xfrm>
      </p:grpSpPr>
      <p:grpSp>
        <p:nvGrpSpPr>
          <p:cNvPr name="Group 2" id="2"/>
          <p:cNvGrpSpPr/>
          <p:nvPr/>
        </p:nvGrpSpPr>
        <p:grpSpPr>
          <a:xfrm rot="0">
            <a:off x="15994763" y="1028700"/>
            <a:ext cx="1436473" cy="3317308"/>
            <a:chOff x="0" y="0"/>
            <a:chExt cx="1915297" cy="4423077"/>
          </a:xfrm>
        </p:grpSpPr>
        <p:sp>
          <p:nvSpPr>
            <p:cNvPr name="AutoShape 3" id="3"/>
            <p:cNvSpPr/>
            <p:nvPr/>
          </p:nvSpPr>
          <p:spPr>
            <a:xfrm>
              <a:off x="0" y="0"/>
              <a:ext cx="1915297" cy="4423077"/>
            </a:xfrm>
            <a:prstGeom prst="rect">
              <a:avLst/>
            </a:prstGeom>
            <a:solidFill>
              <a:srgbClr val="F9232C"/>
            </a:solidFill>
          </p:spPr>
        </p:sp>
      </p:grpSp>
      <p:sp>
        <p:nvSpPr>
          <p:cNvPr name="TextBox 4" id="4"/>
          <p:cNvSpPr txBox="true"/>
          <p:nvPr/>
        </p:nvSpPr>
        <p:spPr>
          <a:xfrm rot="0">
            <a:off x="2618056" y="690331"/>
            <a:ext cx="6989101" cy="1377949"/>
          </a:xfrm>
          <a:prstGeom prst="rect">
            <a:avLst/>
          </a:prstGeom>
        </p:spPr>
        <p:txBody>
          <a:bodyPr anchor="t" rtlCol="false" tIns="0" lIns="0" bIns="0" rIns="0">
            <a:spAutoFit/>
          </a:bodyPr>
          <a:lstStyle/>
          <a:p>
            <a:pPr algn="l">
              <a:lnSpc>
                <a:spcPts val="11200"/>
              </a:lnSpc>
            </a:pPr>
            <a:r>
              <a:rPr lang="en-US" b="true" sz="8000">
                <a:solidFill>
                  <a:srgbClr val="F46200"/>
                </a:solidFill>
                <a:latin typeface="Gotham Bold"/>
                <a:ea typeface="Gotham Bold"/>
                <a:cs typeface="Gotham Bold"/>
                <a:sym typeface="Gotham Bold"/>
              </a:rPr>
              <a:t>EVALUASI</a:t>
            </a:r>
          </a:p>
        </p:txBody>
      </p:sp>
      <p:sp>
        <p:nvSpPr>
          <p:cNvPr name="TextBox 5" id="5"/>
          <p:cNvSpPr txBox="true"/>
          <p:nvPr/>
        </p:nvSpPr>
        <p:spPr>
          <a:xfrm rot="0">
            <a:off x="2618056" y="2032442"/>
            <a:ext cx="3661482" cy="873125"/>
          </a:xfrm>
          <a:prstGeom prst="rect">
            <a:avLst/>
          </a:prstGeom>
        </p:spPr>
        <p:txBody>
          <a:bodyPr anchor="t" rtlCol="false" tIns="0" lIns="0" bIns="0" rIns="0">
            <a:spAutoFit/>
          </a:bodyPr>
          <a:lstStyle/>
          <a:p>
            <a:pPr algn="l">
              <a:lnSpc>
                <a:spcPts val="7000"/>
              </a:lnSpc>
            </a:pPr>
            <a:r>
              <a:rPr lang="en-US" sz="5000">
                <a:solidFill>
                  <a:srgbClr val="191919"/>
                </a:solidFill>
                <a:latin typeface="Gotham"/>
                <a:ea typeface="Gotham"/>
                <a:cs typeface="Gotham"/>
                <a:sym typeface="Gotham"/>
              </a:rPr>
              <a:t>Controling</a:t>
            </a:r>
          </a:p>
        </p:txBody>
      </p:sp>
      <p:sp>
        <p:nvSpPr>
          <p:cNvPr name="TextBox 6" id="6"/>
          <p:cNvSpPr txBox="true"/>
          <p:nvPr/>
        </p:nvSpPr>
        <p:spPr>
          <a:xfrm rot="0">
            <a:off x="2618056" y="3434149"/>
            <a:ext cx="895419" cy="679450"/>
          </a:xfrm>
          <a:prstGeom prst="rect">
            <a:avLst/>
          </a:prstGeom>
        </p:spPr>
        <p:txBody>
          <a:bodyPr anchor="t" rtlCol="false" tIns="0" lIns="0" bIns="0" rIns="0">
            <a:spAutoFit/>
          </a:bodyPr>
          <a:lstStyle/>
          <a:p>
            <a:pPr algn="l">
              <a:lnSpc>
                <a:spcPts val="5599"/>
              </a:lnSpc>
            </a:pPr>
            <a:r>
              <a:rPr lang="en-US" sz="3999" i="true">
                <a:solidFill>
                  <a:srgbClr val="191919"/>
                </a:solidFill>
                <a:latin typeface="Gotham Light Italics"/>
                <a:ea typeface="Gotham Light Italics"/>
                <a:cs typeface="Gotham Light Italics"/>
                <a:sym typeface="Gotham Light Italics"/>
              </a:rPr>
              <a:t>01</a:t>
            </a:r>
          </a:p>
        </p:txBody>
      </p:sp>
      <p:grpSp>
        <p:nvGrpSpPr>
          <p:cNvPr name="Group 7" id="7"/>
          <p:cNvGrpSpPr/>
          <p:nvPr/>
        </p:nvGrpSpPr>
        <p:grpSpPr>
          <a:xfrm rot="0">
            <a:off x="16439471" y="8737362"/>
            <a:ext cx="3697059" cy="369705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 cap="sq">
              <a:solidFill>
                <a:srgbClr val="FD6220"/>
              </a:solidFill>
              <a:prstDash val="solid"/>
              <a:miter/>
            </a:ln>
          </p:spPr>
        </p:sp>
        <p:sp>
          <p:nvSpPr>
            <p:cNvPr name="TextBox 9" id="9"/>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5994763" y="4883031"/>
            <a:ext cx="1436473" cy="2210184"/>
            <a:chOff x="0" y="0"/>
            <a:chExt cx="1915297" cy="2946912"/>
          </a:xfrm>
        </p:grpSpPr>
        <p:sp>
          <p:nvSpPr>
            <p:cNvPr name="AutoShape 11" id="11"/>
            <p:cNvSpPr/>
            <p:nvPr/>
          </p:nvSpPr>
          <p:spPr>
            <a:xfrm>
              <a:off x="0" y="0"/>
              <a:ext cx="1915297" cy="2946912"/>
            </a:xfrm>
            <a:prstGeom prst="rect">
              <a:avLst/>
            </a:prstGeom>
            <a:solidFill>
              <a:srgbClr val="FD6220"/>
            </a:solidFill>
          </p:spPr>
        </p:sp>
      </p:grpSp>
      <p:grpSp>
        <p:nvGrpSpPr>
          <p:cNvPr name="Group 12" id="12"/>
          <p:cNvGrpSpPr/>
          <p:nvPr/>
        </p:nvGrpSpPr>
        <p:grpSpPr>
          <a:xfrm rot="0">
            <a:off x="14245808" y="2687354"/>
            <a:ext cx="1436473" cy="1658654"/>
            <a:chOff x="0" y="0"/>
            <a:chExt cx="1915297" cy="2211539"/>
          </a:xfrm>
        </p:grpSpPr>
        <p:sp>
          <p:nvSpPr>
            <p:cNvPr name="AutoShape 13" id="13"/>
            <p:cNvSpPr/>
            <p:nvPr/>
          </p:nvSpPr>
          <p:spPr>
            <a:xfrm>
              <a:off x="0" y="0"/>
              <a:ext cx="1915297" cy="2211539"/>
            </a:xfrm>
            <a:prstGeom prst="rect">
              <a:avLst/>
            </a:prstGeom>
            <a:solidFill>
              <a:srgbClr val="FD6220"/>
            </a:solidFill>
          </p:spPr>
        </p:sp>
      </p:grpSp>
      <p:grpSp>
        <p:nvGrpSpPr>
          <p:cNvPr name="Group 14" id="14"/>
          <p:cNvGrpSpPr/>
          <p:nvPr/>
        </p:nvGrpSpPr>
        <p:grpSpPr>
          <a:xfrm rot="0">
            <a:off x="14245808" y="4883031"/>
            <a:ext cx="1436473" cy="3317308"/>
            <a:chOff x="0" y="0"/>
            <a:chExt cx="1915297" cy="4423077"/>
          </a:xfrm>
        </p:grpSpPr>
        <p:sp>
          <p:nvSpPr>
            <p:cNvPr name="AutoShape 15" id="15"/>
            <p:cNvSpPr/>
            <p:nvPr/>
          </p:nvSpPr>
          <p:spPr>
            <a:xfrm>
              <a:off x="0" y="0"/>
              <a:ext cx="1915297" cy="4423077"/>
            </a:xfrm>
            <a:prstGeom prst="rect">
              <a:avLst/>
            </a:prstGeom>
            <a:solidFill>
              <a:srgbClr val="F9232C"/>
            </a:solidFill>
          </p:spPr>
        </p:sp>
      </p:grpSp>
      <p:sp>
        <p:nvSpPr>
          <p:cNvPr name="TextBox 16" id="16"/>
          <p:cNvSpPr txBox="true"/>
          <p:nvPr/>
        </p:nvSpPr>
        <p:spPr>
          <a:xfrm rot="0">
            <a:off x="3551575" y="3434149"/>
            <a:ext cx="9340138" cy="1225550"/>
          </a:xfrm>
          <a:prstGeom prst="rect">
            <a:avLst/>
          </a:prstGeom>
        </p:spPr>
        <p:txBody>
          <a:bodyPr anchor="t" rtlCol="false" tIns="0" lIns="0" bIns="0" rIns="0">
            <a:spAutoFit/>
          </a:bodyPr>
          <a:lstStyle/>
          <a:p>
            <a:pPr algn="l">
              <a:lnSpc>
                <a:spcPts val="4900"/>
              </a:lnSpc>
            </a:pPr>
            <a:r>
              <a:rPr lang="en-US" sz="3500" i="true">
                <a:solidFill>
                  <a:srgbClr val="191919"/>
                </a:solidFill>
                <a:latin typeface="Gotham Light Italics"/>
                <a:ea typeface="Gotham Light Italics"/>
                <a:cs typeface="Gotham Light Italics"/>
                <a:sym typeface="Gotham Light Italics"/>
              </a:rPr>
              <a:t>Kurang maksimal dalam kontrolling tugas pokok dan fungsi dari divisi/subdivisi</a:t>
            </a:r>
          </a:p>
        </p:txBody>
      </p:sp>
      <p:grpSp>
        <p:nvGrpSpPr>
          <p:cNvPr name="Group 17" id="17"/>
          <p:cNvGrpSpPr/>
          <p:nvPr/>
        </p:nvGrpSpPr>
        <p:grpSpPr>
          <a:xfrm rot="0">
            <a:off x="2410402" y="5170859"/>
            <a:ext cx="10070851" cy="1177925"/>
            <a:chOff x="0" y="0"/>
            <a:chExt cx="13427802" cy="1570567"/>
          </a:xfrm>
        </p:grpSpPr>
        <p:sp>
          <p:nvSpPr>
            <p:cNvPr name="TextBox 18" id="18"/>
            <p:cNvSpPr txBox="true"/>
            <p:nvPr/>
          </p:nvSpPr>
          <p:spPr>
            <a:xfrm rot="0">
              <a:off x="1349822" y="-38100"/>
              <a:ext cx="12077980" cy="1608667"/>
            </a:xfrm>
            <a:prstGeom prst="rect">
              <a:avLst/>
            </a:prstGeom>
          </p:spPr>
          <p:txBody>
            <a:bodyPr anchor="t" rtlCol="false" tIns="0" lIns="0" bIns="0" rIns="0">
              <a:spAutoFit/>
            </a:bodyPr>
            <a:lstStyle/>
            <a:p>
              <a:pPr algn="l">
                <a:lnSpc>
                  <a:spcPts val="4900"/>
                </a:lnSpc>
              </a:pPr>
              <a:r>
                <a:rPr lang="en-US" sz="3500" i="true">
                  <a:solidFill>
                    <a:srgbClr val="191919"/>
                  </a:solidFill>
                  <a:latin typeface="Gotham Light Italics"/>
                  <a:ea typeface="Gotham Light Italics"/>
                  <a:cs typeface="Gotham Light Italics"/>
                  <a:sym typeface="Gotham Light Italics"/>
                </a:rPr>
                <a:t>Tidak adanya pembagian tugas terhadap BPH 7 yang jelas dan terarah</a:t>
              </a:r>
            </a:p>
          </p:txBody>
        </p:sp>
        <p:sp>
          <p:nvSpPr>
            <p:cNvPr name="TextBox 19" id="19"/>
            <p:cNvSpPr txBox="true"/>
            <p:nvPr/>
          </p:nvSpPr>
          <p:spPr>
            <a:xfrm rot="0">
              <a:off x="0" y="-76200"/>
              <a:ext cx="1349822" cy="880533"/>
            </a:xfrm>
            <a:prstGeom prst="rect">
              <a:avLst/>
            </a:prstGeom>
          </p:spPr>
          <p:txBody>
            <a:bodyPr anchor="t" rtlCol="false" tIns="0" lIns="0" bIns="0" rIns="0">
              <a:spAutoFit/>
            </a:bodyPr>
            <a:lstStyle/>
            <a:p>
              <a:pPr algn="l">
                <a:lnSpc>
                  <a:spcPts val="5599"/>
                </a:lnSpc>
              </a:pPr>
              <a:r>
                <a:rPr lang="en-US" sz="3999" i="true">
                  <a:solidFill>
                    <a:srgbClr val="191919"/>
                  </a:solidFill>
                  <a:latin typeface="Gotham Light Italics"/>
                  <a:ea typeface="Gotham Light Italics"/>
                  <a:cs typeface="Gotham Light Italics"/>
                  <a:sym typeface="Gotham Light Italics"/>
                </a:rPr>
                <a:t>02</a:t>
              </a:r>
            </a:p>
          </p:txBody>
        </p:sp>
      </p:grpSp>
      <p:grpSp>
        <p:nvGrpSpPr>
          <p:cNvPr name="Group 20" id="20"/>
          <p:cNvGrpSpPr/>
          <p:nvPr/>
        </p:nvGrpSpPr>
        <p:grpSpPr>
          <a:xfrm rot="0">
            <a:off x="2315152" y="6829424"/>
            <a:ext cx="10384164" cy="2387600"/>
            <a:chOff x="0" y="0"/>
            <a:chExt cx="13845551" cy="3183467"/>
          </a:xfrm>
        </p:grpSpPr>
        <p:sp>
          <p:nvSpPr>
            <p:cNvPr name="TextBox 21" id="21"/>
            <p:cNvSpPr txBox="true"/>
            <p:nvPr/>
          </p:nvSpPr>
          <p:spPr>
            <a:xfrm rot="0">
              <a:off x="0" y="-76200"/>
              <a:ext cx="1193892" cy="880533"/>
            </a:xfrm>
            <a:prstGeom prst="rect">
              <a:avLst/>
            </a:prstGeom>
          </p:spPr>
          <p:txBody>
            <a:bodyPr anchor="t" rtlCol="false" tIns="0" lIns="0" bIns="0" rIns="0">
              <a:spAutoFit/>
            </a:bodyPr>
            <a:lstStyle/>
            <a:p>
              <a:pPr algn="l">
                <a:lnSpc>
                  <a:spcPts val="5599"/>
                </a:lnSpc>
              </a:pPr>
              <a:r>
                <a:rPr lang="en-US" sz="3999" i="true">
                  <a:solidFill>
                    <a:srgbClr val="191919"/>
                  </a:solidFill>
                  <a:latin typeface="Gotham Light Italics"/>
                  <a:ea typeface="Gotham Light Italics"/>
                  <a:cs typeface="Gotham Light Italics"/>
                  <a:sym typeface="Gotham Light Italics"/>
                </a:rPr>
                <a:t>03</a:t>
              </a:r>
            </a:p>
          </p:txBody>
        </p:sp>
        <p:sp>
          <p:nvSpPr>
            <p:cNvPr name="TextBox 22" id="22"/>
            <p:cNvSpPr txBox="true"/>
            <p:nvPr/>
          </p:nvSpPr>
          <p:spPr>
            <a:xfrm rot="0">
              <a:off x="1305663" y="-76200"/>
              <a:ext cx="12539889" cy="3259667"/>
            </a:xfrm>
            <a:prstGeom prst="rect">
              <a:avLst/>
            </a:prstGeom>
          </p:spPr>
          <p:txBody>
            <a:bodyPr anchor="t" rtlCol="false" tIns="0" lIns="0" bIns="0" rIns="0">
              <a:spAutoFit/>
            </a:bodyPr>
            <a:lstStyle/>
            <a:p>
              <a:pPr algn="l">
                <a:lnSpc>
                  <a:spcPts val="4900"/>
                </a:lnSpc>
              </a:pPr>
              <a:r>
                <a:rPr lang="en-US" sz="3500" i="true">
                  <a:solidFill>
                    <a:srgbClr val="191919"/>
                  </a:solidFill>
                  <a:latin typeface="Gotham Light Italics"/>
                  <a:ea typeface="Gotham Light Italics"/>
                  <a:cs typeface="Gotham Light Italics"/>
                  <a:sym typeface="Gotham Light Italics"/>
                </a:rPr>
                <a:t>Penjadwalan Rapat BPH belum terbuat secara teratur dan sering berubah sesuai urgensi yang ada.</a:t>
              </a:r>
            </a:p>
            <a:p>
              <a:pPr algn="l">
                <a:lnSpc>
                  <a:spcPts val="4900"/>
                </a:lnSpc>
              </a:pPr>
            </a:p>
          </p:txBody>
        </p:sp>
      </p:grpSp>
    </p:spTree>
  </p:cSld>
  <p:clrMapOvr>
    <a:masterClrMapping/>
  </p:clrMapOvr>
</p:sld>
</file>

<file path=ppt/slides/slide6.xml><?xml version="1.0" encoding="utf-8"?>
<p:sld xmlns:p="http://schemas.openxmlformats.org/presentationml/2006/main" xmlns:a="http://schemas.openxmlformats.org/drawingml/2006/main">
  <p:cSld>
    <p:bg>
      <p:bgPr>
        <a:solidFill>
          <a:srgbClr val="FFFFFE"/>
        </a:solidFill>
      </p:bgPr>
    </p:bg>
    <p:spTree>
      <p:nvGrpSpPr>
        <p:cNvPr id="1" name=""/>
        <p:cNvGrpSpPr/>
        <p:nvPr/>
      </p:nvGrpSpPr>
      <p:grpSpPr>
        <a:xfrm>
          <a:off x="0" y="0"/>
          <a:ext cx="0" cy="0"/>
          <a:chOff x="0" y="0"/>
          <a:chExt cx="0" cy="0"/>
        </a:xfrm>
      </p:grpSpPr>
      <p:grpSp>
        <p:nvGrpSpPr>
          <p:cNvPr name="Group 2" id="2"/>
          <p:cNvGrpSpPr/>
          <p:nvPr/>
        </p:nvGrpSpPr>
        <p:grpSpPr>
          <a:xfrm rot="0">
            <a:off x="15994763" y="2905566"/>
            <a:ext cx="1436473" cy="1440442"/>
            <a:chOff x="0" y="0"/>
            <a:chExt cx="1915297" cy="1920589"/>
          </a:xfrm>
        </p:grpSpPr>
        <p:sp>
          <p:nvSpPr>
            <p:cNvPr name="AutoShape 3" id="3"/>
            <p:cNvSpPr/>
            <p:nvPr/>
          </p:nvSpPr>
          <p:spPr>
            <a:xfrm>
              <a:off x="0" y="0"/>
              <a:ext cx="1915297" cy="1920589"/>
            </a:xfrm>
            <a:prstGeom prst="rect">
              <a:avLst/>
            </a:prstGeom>
            <a:solidFill>
              <a:srgbClr val="F9232C"/>
            </a:solidFill>
          </p:spPr>
        </p:sp>
      </p:grpSp>
      <p:grpSp>
        <p:nvGrpSpPr>
          <p:cNvPr name="Group 4" id="4"/>
          <p:cNvGrpSpPr/>
          <p:nvPr/>
        </p:nvGrpSpPr>
        <p:grpSpPr>
          <a:xfrm rot="0">
            <a:off x="16439471" y="8737362"/>
            <a:ext cx="3697059" cy="369705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 cap="sq">
              <a:solidFill>
                <a:srgbClr val="FD6220"/>
              </a:solidFill>
              <a:prstDash val="solid"/>
              <a:miter/>
            </a:ln>
          </p:spPr>
        </p:sp>
        <p:sp>
          <p:nvSpPr>
            <p:cNvPr name="TextBox 6" id="6"/>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5994763" y="4883031"/>
            <a:ext cx="1436473" cy="3317308"/>
            <a:chOff x="0" y="0"/>
            <a:chExt cx="1915297" cy="4423077"/>
          </a:xfrm>
        </p:grpSpPr>
        <p:sp>
          <p:nvSpPr>
            <p:cNvPr name="AutoShape 8" id="8"/>
            <p:cNvSpPr/>
            <p:nvPr/>
          </p:nvSpPr>
          <p:spPr>
            <a:xfrm>
              <a:off x="0" y="0"/>
              <a:ext cx="1915297" cy="4423077"/>
            </a:xfrm>
            <a:prstGeom prst="rect">
              <a:avLst/>
            </a:prstGeom>
            <a:solidFill>
              <a:srgbClr val="FD6220"/>
            </a:solidFill>
          </p:spPr>
        </p:sp>
      </p:grpSp>
      <p:grpSp>
        <p:nvGrpSpPr>
          <p:cNvPr name="Group 9" id="9"/>
          <p:cNvGrpSpPr/>
          <p:nvPr/>
        </p:nvGrpSpPr>
        <p:grpSpPr>
          <a:xfrm rot="0">
            <a:off x="14245808" y="1028700"/>
            <a:ext cx="1436473" cy="3317308"/>
            <a:chOff x="0" y="0"/>
            <a:chExt cx="1915297" cy="4423077"/>
          </a:xfrm>
        </p:grpSpPr>
        <p:sp>
          <p:nvSpPr>
            <p:cNvPr name="AutoShape 10" id="10"/>
            <p:cNvSpPr/>
            <p:nvPr/>
          </p:nvSpPr>
          <p:spPr>
            <a:xfrm>
              <a:off x="0" y="0"/>
              <a:ext cx="1915297" cy="4423077"/>
            </a:xfrm>
            <a:prstGeom prst="rect">
              <a:avLst/>
            </a:prstGeom>
            <a:solidFill>
              <a:srgbClr val="FD6220"/>
            </a:solidFill>
          </p:spPr>
        </p:sp>
      </p:grpSp>
      <p:grpSp>
        <p:nvGrpSpPr>
          <p:cNvPr name="Group 11" id="11"/>
          <p:cNvGrpSpPr/>
          <p:nvPr/>
        </p:nvGrpSpPr>
        <p:grpSpPr>
          <a:xfrm rot="0">
            <a:off x="14245808" y="4883031"/>
            <a:ext cx="1436473" cy="2086359"/>
            <a:chOff x="0" y="0"/>
            <a:chExt cx="1915297" cy="2781812"/>
          </a:xfrm>
        </p:grpSpPr>
        <p:sp>
          <p:nvSpPr>
            <p:cNvPr name="AutoShape 12" id="12"/>
            <p:cNvSpPr/>
            <p:nvPr/>
          </p:nvSpPr>
          <p:spPr>
            <a:xfrm>
              <a:off x="0" y="0"/>
              <a:ext cx="1915297" cy="2781812"/>
            </a:xfrm>
            <a:prstGeom prst="rect">
              <a:avLst/>
            </a:prstGeom>
            <a:solidFill>
              <a:srgbClr val="F9232C"/>
            </a:solidFill>
          </p:spPr>
        </p:sp>
      </p:grpSp>
      <p:sp>
        <p:nvSpPr>
          <p:cNvPr name="TextBox 13" id="13"/>
          <p:cNvSpPr txBox="true"/>
          <p:nvPr/>
        </p:nvSpPr>
        <p:spPr>
          <a:xfrm rot="0">
            <a:off x="2618056" y="690331"/>
            <a:ext cx="6989101" cy="1377949"/>
          </a:xfrm>
          <a:prstGeom prst="rect">
            <a:avLst/>
          </a:prstGeom>
        </p:spPr>
        <p:txBody>
          <a:bodyPr anchor="t" rtlCol="false" tIns="0" lIns="0" bIns="0" rIns="0">
            <a:spAutoFit/>
          </a:bodyPr>
          <a:lstStyle/>
          <a:p>
            <a:pPr algn="l">
              <a:lnSpc>
                <a:spcPts val="11200"/>
              </a:lnSpc>
            </a:pPr>
            <a:r>
              <a:rPr lang="en-US" b="true" sz="8000">
                <a:solidFill>
                  <a:srgbClr val="F46200"/>
                </a:solidFill>
                <a:latin typeface="Gotham Bold"/>
                <a:ea typeface="Gotham Bold"/>
                <a:cs typeface="Gotham Bold"/>
                <a:sym typeface="Gotham Bold"/>
              </a:rPr>
              <a:t>EVALUASI</a:t>
            </a:r>
          </a:p>
        </p:txBody>
      </p:sp>
      <p:sp>
        <p:nvSpPr>
          <p:cNvPr name="TextBox 14" id="14"/>
          <p:cNvSpPr txBox="true"/>
          <p:nvPr/>
        </p:nvSpPr>
        <p:spPr>
          <a:xfrm rot="0">
            <a:off x="2618056" y="2032442"/>
            <a:ext cx="3661482" cy="873125"/>
          </a:xfrm>
          <a:prstGeom prst="rect">
            <a:avLst/>
          </a:prstGeom>
        </p:spPr>
        <p:txBody>
          <a:bodyPr anchor="t" rtlCol="false" tIns="0" lIns="0" bIns="0" rIns="0">
            <a:spAutoFit/>
          </a:bodyPr>
          <a:lstStyle/>
          <a:p>
            <a:pPr algn="l">
              <a:lnSpc>
                <a:spcPts val="7000"/>
              </a:lnSpc>
            </a:pPr>
            <a:r>
              <a:rPr lang="en-US" sz="5000">
                <a:solidFill>
                  <a:srgbClr val="191919"/>
                </a:solidFill>
                <a:latin typeface="Gotham"/>
                <a:ea typeface="Gotham"/>
                <a:cs typeface="Gotham"/>
                <a:sym typeface="Gotham"/>
              </a:rPr>
              <a:t>Monitoring</a:t>
            </a:r>
          </a:p>
        </p:txBody>
      </p:sp>
      <p:grpSp>
        <p:nvGrpSpPr>
          <p:cNvPr name="Group 15" id="15"/>
          <p:cNvGrpSpPr/>
          <p:nvPr/>
        </p:nvGrpSpPr>
        <p:grpSpPr>
          <a:xfrm rot="0">
            <a:off x="2618056" y="3510349"/>
            <a:ext cx="10235557" cy="4794303"/>
            <a:chOff x="0" y="0"/>
            <a:chExt cx="13647409" cy="6392404"/>
          </a:xfrm>
        </p:grpSpPr>
        <p:sp>
          <p:nvSpPr>
            <p:cNvPr name="TextBox 16" id="16"/>
            <p:cNvSpPr txBox="true"/>
            <p:nvPr/>
          </p:nvSpPr>
          <p:spPr>
            <a:xfrm rot="0">
              <a:off x="0" y="-76200"/>
              <a:ext cx="1193892" cy="880533"/>
            </a:xfrm>
            <a:prstGeom prst="rect">
              <a:avLst/>
            </a:prstGeom>
          </p:spPr>
          <p:txBody>
            <a:bodyPr anchor="t" rtlCol="false" tIns="0" lIns="0" bIns="0" rIns="0">
              <a:spAutoFit/>
            </a:bodyPr>
            <a:lstStyle/>
            <a:p>
              <a:pPr algn="l">
                <a:lnSpc>
                  <a:spcPts val="5599"/>
                </a:lnSpc>
              </a:pPr>
              <a:r>
                <a:rPr lang="en-US" sz="3999" i="true">
                  <a:solidFill>
                    <a:srgbClr val="191919"/>
                  </a:solidFill>
                  <a:latin typeface="Gotham Light Italics"/>
                  <a:ea typeface="Gotham Light Italics"/>
                  <a:cs typeface="Gotham Light Italics"/>
                  <a:sym typeface="Gotham Light Italics"/>
                </a:rPr>
                <a:t>01</a:t>
              </a:r>
            </a:p>
          </p:txBody>
        </p:sp>
        <p:sp>
          <p:nvSpPr>
            <p:cNvPr name="TextBox 17" id="17"/>
            <p:cNvSpPr txBox="true"/>
            <p:nvPr/>
          </p:nvSpPr>
          <p:spPr>
            <a:xfrm rot="0">
              <a:off x="1193892" y="-31254"/>
              <a:ext cx="12453518" cy="1608667"/>
            </a:xfrm>
            <a:prstGeom prst="rect">
              <a:avLst/>
            </a:prstGeom>
          </p:spPr>
          <p:txBody>
            <a:bodyPr anchor="t" rtlCol="false" tIns="0" lIns="0" bIns="0" rIns="0">
              <a:spAutoFit/>
            </a:bodyPr>
            <a:lstStyle/>
            <a:p>
              <a:pPr algn="l">
                <a:lnSpc>
                  <a:spcPts val="4900"/>
                </a:lnSpc>
              </a:pPr>
              <a:r>
                <a:rPr lang="en-US" sz="3500" i="true">
                  <a:solidFill>
                    <a:srgbClr val="191919"/>
                  </a:solidFill>
                  <a:latin typeface="Gotham Light Italics"/>
                  <a:ea typeface="Gotham Light Italics"/>
                  <a:cs typeface="Gotham Light Italics"/>
                  <a:sym typeface="Gotham Light Italics"/>
                </a:rPr>
                <a:t>Kurang maksimal dalam memonitoring program kerja yang belum terjalankan</a:t>
              </a:r>
            </a:p>
          </p:txBody>
        </p:sp>
        <p:sp>
          <p:nvSpPr>
            <p:cNvPr name="TextBox 18" id="18"/>
            <p:cNvSpPr txBox="true"/>
            <p:nvPr/>
          </p:nvSpPr>
          <p:spPr>
            <a:xfrm rot="0">
              <a:off x="1349822" y="3132737"/>
              <a:ext cx="12077980" cy="3259667"/>
            </a:xfrm>
            <a:prstGeom prst="rect">
              <a:avLst/>
            </a:prstGeom>
          </p:spPr>
          <p:txBody>
            <a:bodyPr anchor="t" rtlCol="false" tIns="0" lIns="0" bIns="0" rIns="0">
              <a:spAutoFit/>
            </a:bodyPr>
            <a:lstStyle/>
            <a:p>
              <a:pPr algn="l">
                <a:lnSpc>
                  <a:spcPts val="4900"/>
                </a:lnSpc>
              </a:pPr>
              <a:r>
                <a:rPr lang="en-US" sz="3500" i="true">
                  <a:solidFill>
                    <a:srgbClr val="191919"/>
                  </a:solidFill>
                  <a:latin typeface="Gotham Light Italics"/>
                  <a:ea typeface="Gotham Light Italics"/>
                  <a:cs typeface="Gotham Light Italics"/>
                  <a:sym typeface="Gotham Light Italics"/>
                </a:rPr>
                <a:t>Tidak adanya pemaksimalan bentuk evaluasi kepengurusan terhadap tugas pokok dan fungsinya</a:t>
              </a:r>
            </a:p>
            <a:p>
              <a:pPr algn="l">
                <a:lnSpc>
                  <a:spcPts val="4900"/>
                </a:lnSpc>
              </a:pPr>
            </a:p>
          </p:txBody>
        </p:sp>
        <p:sp>
          <p:nvSpPr>
            <p:cNvPr name="TextBox 19" id="19"/>
            <p:cNvSpPr txBox="true"/>
            <p:nvPr/>
          </p:nvSpPr>
          <p:spPr>
            <a:xfrm rot="0">
              <a:off x="0" y="3094637"/>
              <a:ext cx="1349822" cy="880533"/>
            </a:xfrm>
            <a:prstGeom prst="rect">
              <a:avLst/>
            </a:prstGeom>
          </p:spPr>
          <p:txBody>
            <a:bodyPr anchor="t" rtlCol="false" tIns="0" lIns="0" bIns="0" rIns="0">
              <a:spAutoFit/>
            </a:bodyPr>
            <a:lstStyle/>
            <a:p>
              <a:pPr algn="l">
                <a:lnSpc>
                  <a:spcPts val="5599"/>
                </a:lnSpc>
              </a:pPr>
              <a:r>
                <a:rPr lang="en-US" sz="3999" i="true">
                  <a:solidFill>
                    <a:srgbClr val="191919"/>
                  </a:solidFill>
                  <a:latin typeface="Gotham Light Italics"/>
                  <a:ea typeface="Gotham Light Italics"/>
                  <a:cs typeface="Gotham Light Italics"/>
                  <a:sym typeface="Gotham Light Italics"/>
                </a:rPr>
                <a:t>02</a:t>
              </a:r>
            </a:p>
          </p:txBody>
        </p:sp>
      </p:grpSp>
    </p:spTree>
  </p:cSld>
  <p:clrMapOvr>
    <a:masterClrMapping/>
  </p:clrMapOvr>
</p:sld>
</file>

<file path=ppt/slides/slide7.xml><?xml version="1.0" encoding="utf-8"?>
<p:sld xmlns:p="http://schemas.openxmlformats.org/presentationml/2006/main" xmlns:a="http://schemas.openxmlformats.org/drawingml/2006/main">
  <p:cSld>
    <p:bg>
      <p:bgPr>
        <a:solidFill>
          <a:srgbClr val="FFFFFE"/>
        </a:solidFill>
      </p:bgPr>
    </p:bg>
    <p:spTree>
      <p:nvGrpSpPr>
        <p:cNvPr id="1" name=""/>
        <p:cNvGrpSpPr/>
        <p:nvPr/>
      </p:nvGrpSpPr>
      <p:grpSpPr>
        <a:xfrm>
          <a:off x="0" y="0"/>
          <a:ext cx="0" cy="0"/>
          <a:chOff x="0" y="0"/>
          <a:chExt cx="0" cy="0"/>
        </a:xfrm>
      </p:grpSpPr>
      <p:grpSp>
        <p:nvGrpSpPr>
          <p:cNvPr name="Group 2" id="2"/>
          <p:cNvGrpSpPr/>
          <p:nvPr/>
        </p:nvGrpSpPr>
        <p:grpSpPr>
          <a:xfrm rot="0">
            <a:off x="16439471" y="8737362"/>
            <a:ext cx="3697059" cy="369705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 cap="sq">
              <a:solidFill>
                <a:srgbClr val="FD6220"/>
              </a:solidFill>
              <a:prstDash val="solid"/>
              <a:miter/>
            </a:ln>
          </p:spPr>
        </p:sp>
        <p:sp>
          <p:nvSpPr>
            <p:cNvPr name="TextBox 4" id="4"/>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618056" y="690331"/>
            <a:ext cx="6989101" cy="1377949"/>
          </a:xfrm>
          <a:prstGeom prst="rect">
            <a:avLst/>
          </a:prstGeom>
        </p:spPr>
        <p:txBody>
          <a:bodyPr anchor="t" rtlCol="false" tIns="0" lIns="0" bIns="0" rIns="0">
            <a:spAutoFit/>
          </a:bodyPr>
          <a:lstStyle/>
          <a:p>
            <a:pPr algn="l">
              <a:lnSpc>
                <a:spcPts val="11200"/>
              </a:lnSpc>
            </a:pPr>
            <a:r>
              <a:rPr lang="en-US" b="true" sz="8000">
                <a:solidFill>
                  <a:srgbClr val="F46200"/>
                </a:solidFill>
                <a:latin typeface="Gotham Bold"/>
                <a:ea typeface="Gotham Bold"/>
                <a:cs typeface="Gotham Bold"/>
                <a:sym typeface="Gotham Bold"/>
              </a:rPr>
              <a:t>EVALUASI</a:t>
            </a:r>
          </a:p>
        </p:txBody>
      </p:sp>
      <p:sp>
        <p:nvSpPr>
          <p:cNvPr name="TextBox 6" id="6"/>
          <p:cNvSpPr txBox="true"/>
          <p:nvPr/>
        </p:nvSpPr>
        <p:spPr>
          <a:xfrm rot="0">
            <a:off x="2618056" y="2032442"/>
            <a:ext cx="4546871" cy="873125"/>
          </a:xfrm>
          <a:prstGeom prst="rect">
            <a:avLst/>
          </a:prstGeom>
        </p:spPr>
        <p:txBody>
          <a:bodyPr anchor="t" rtlCol="false" tIns="0" lIns="0" bIns="0" rIns="0">
            <a:spAutoFit/>
          </a:bodyPr>
          <a:lstStyle/>
          <a:p>
            <a:pPr algn="l">
              <a:lnSpc>
                <a:spcPts val="7000"/>
              </a:lnSpc>
            </a:pPr>
            <a:r>
              <a:rPr lang="en-US" sz="5000">
                <a:solidFill>
                  <a:srgbClr val="191919"/>
                </a:solidFill>
                <a:latin typeface="Gotham"/>
                <a:ea typeface="Gotham"/>
                <a:cs typeface="Gotham"/>
                <a:sym typeface="Gotham"/>
              </a:rPr>
              <a:t>Comunicating</a:t>
            </a:r>
          </a:p>
        </p:txBody>
      </p:sp>
      <p:sp>
        <p:nvSpPr>
          <p:cNvPr name="TextBox 7" id="7"/>
          <p:cNvSpPr txBox="true"/>
          <p:nvPr/>
        </p:nvSpPr>
        <p:spPr>
          <a:xfrm rot="0">
            <a:off x="2686055" y="3320514"/>
            <a:ext cx="895419" cy="679450"/>
          </a:xfrm>
          <a:prstGeom prst="rect">
            <a:avLst/>
          </a:prstGeom>
        </p:spPr>
        <p:txBody>
          <a:bodyPr anchor="t" rtlCol="false" tIns="0" lIns="0" bIns="0" rIns="0">
            <a:spAutoFit/>
          </a:bodyPr>
          <a:lstStyle/>
          <a:p>
            <a:pPr algn="l">
              <a:lnSpc>
                <a:spcPts val="5599"/>
              </a:lnSpc>
            </a:pPr>
            <a:r>
              <a:rPr lang="en-US" sz="3999" i="true">
                <a:solidFill>
                  <a:srgbClr val="191919"/>
                </a:solidFill>
                <a:latin typeface="Gotham Light Italics"/>
                <a:ea typeface="Gotham Light Italics"/>
                <a:cs typeface="Gotham Light Italics"/>
                <a:sym typeface="Gotham Light Italics"/>
              </a:rPr>
              <a:t>01</a:t>
            </a:r>
          </a:p>
        </p:txBody>
      </p:sp>
      <p:sp>
        <p:nvSpPr>
          <p:cNvPr name="TextBox 8" id="8"/>
          <p:cNvSpPr txBox="true"/>
          <p:nvPr/>
        </p:nvSpPr>
        <p:spPr>
          <a:xfrm rot="0">
            <a:off x="3581474" y="3354223"/>
            <a:ext cx="9340138" cy="1844675"/>
          </a:xfrm>
          <a:prstGeom prst="rect">
            <a:avLst/>
          </a:prstGeom>
        </p:spPr>
        <p:txBody>
          <a:bodyPr anchor="t" rtlCol="false" tIns="0" lIns="0" bIns="0" rIns="0">
            <a:spAutoFit/>
          </a:bodyPr>
          <a:lstStyle/>
          <a:p>
            <a:pPr algn="l">
              <a:lnSpc>
                <a:spcPts val="4900"/>
              </a:lnSpc>
            </a:pPr>
            <a:r>
              <a:rPr lang="en-US" sz="3500" i="true">
                <a:solidFill>
                  <a:srgbClr val="191919"/>
                </a:solidFill>
                <a:latin typeface="Gotham Light Italics"/>
                <a:ea typeface="Gotham Light Italics"/>
                <a:cs typeface="Gotham Light Italics"/>
                <a:sym typeface="Gotham Light Italics"/>
              </a:rPr>
              <a:t>Kurang memaksimalkan komunikasi dengan Wakil ketua Himpunan dan BPH</a:t>
            </a:r>
          </a:p>
          <a:p>
            <a:pPr algn="l">
              <a:lnSpc>
                <a:spcPts val="4900"/>
              </a:lnSpc>
            </a:pPr>
          </a:p>
        </p:txBody>
      </p:sp>
      <p:sp>
        <p:nvSpPr>
          <p:cNvPr name="TextBox 9" id="9"/>
          <p:cNvSpPr txBox="true"/>
          <p:nvPr/>
        </p:nvSpPr>
        <p:spPr>
          <a:xfrm rot="0">
            <a:off x="3581474" y="5289762"/>
            <a:ext cx="9058485" cy="1844675"/>
          </a:xfrm>
          <a:prstGeom prst="rect">
            <a:avLst/>
          </a:prstGeom>
        </p:spPr>
        <p:txBody>
          <a:bodyPr anchor="t" rtlCol="false" tIns="0" lIns="0" bIns="0" rIns="0">
            <a:spAutoFit/>
          </a:bodyPr>
          <a:lstStyle/>
          <a:p>
            <a:pPr algn="l">
              <a:lnSpc>
                <a:spcPts val="4900"/>
              </a:lnSpc>
            </a:pPr>
            <a:r>
              <a:rPr lang="en-US" sz="3500" i="true">
                <a:solidFill>
                  <a:srgbClr val="191919"/>
                </a:solidFill>
                <a:latin typeface="Gotham Light Italics"/>
                <a:ea typeface="Gotham Light Italics"/>
                <a:cs typeface="Gotham Light Italics"/>
                <a:sym typeface="Gotham Light Italics"/>
              </a:rPr>
              <a:t>Belum maksimalnya komunikasi dengan anggota pengurus</a:t>
            </a:r>
          </a:p>
          <a:p>
            <a:pPr algn="l">
              <a:lnSpc>
                <a:spcPts val="4900"/>
              </a:lnSpc>
            </a:pPr>
          </a:p>
        </p:txBody>
      </p:sp>
      <p:sp>
        <p:nvSpPr>
          <p:cNvPr name="TextBox 10" id="10"/>
          <p:cNvSpPr txBox="true"/>
          <p:nvPr/>
        </p:nvSpPr>
        <p:spPr>
          <a:xfrm rot="0">
            <a:off x="2569107" y="5289762"/>
            <a:ext cx="1012367" cy="679450"/>
          </a:xfrm>
          <a:prstGeom prst="rect">
            <a:avLst/>
          </a:prstGeom>
        </p:spPr>
        <p:txBody>
          <a:bodyPr anchor="t" rtlCol="false" tIns="0" lIns="0" bIns="0" rIns="0">
            <a:spAutoFit/>
          </a:bodyPr>
          <a:lstStyle/>
          <a:p>
            <a:pPr algn="l">
              <a:lnSpc>
                <a:spcPts val="5599"/>
              </a:lnSpc>
            </a:pPr>
            <a:r>
              <a:rPr lang="en-US" sz="3999" i="true">
                <a:solidFill>
                  <a:srgbClr val="191919"/>
                </a:solidFill>
                <a:latin typeface="Gotham Light Italics"/>
                <a:ea typeface="Gotham Light Italics"/>
                <a:cs typeface="Gotham Light Italics"/>
                <a:sym typeface="Gotham Light Italics"/>
              </a:rPr>
              <a:t>02</a:t>
            </a:r>
          </a:p>
        </p:txBody>
      </p:sp>
      <p:sp>
        <p:nvSpPr>
          <p:cNvPr name="TextBox 11" id="11"/>
          <p:cNvSpPr txBox="true"/>
          <p:nvPr/>
        </p:nvSpPr>
        <p:spPr>
          <a:xfrm rot="0">
            <a:off x="2569107" y="7081396"/>
            <a:ext cx="1012367" cy="679450"/>
          </a:xfrm>
          <a:prstGeom prst="rect">
            <a:avLst/>
          </a:prstGeom>
        </p:spPr>
        <p:txBody>
          <a:bodyPr anchor="t" rtlCol="false" tIns="0" lIns="0" bIns="0" rIns="0">
            <a:spAutoFit/>
          </a:bodyPr>
          <a:lstStyle/>
          <a:p>
            <a:pPr algn="l">
              <a:lnSpc>
                <a:spcPts val="5599"/>
              </a:lnSpc>
            </a:pPr>
            <a:r>
              <a:rPr lang="en-US" sz="3999" i="true">
                <a:solidFill>
                  <a:srgbClr val="191919"/>
                </a:solidFill>
                <a:latin typeface="Gotham Light Italics"/>
                <a:ea typeface="Gotham Light Italics"/>
                <a:cs typeface="Gotham Light Italics"/>
                <a:sym typeface="Gotham Light Italics"/>
              </a:rPr>
              <a:t>03</a:t>
            </a:r>
          </a:p>
        </p:txBody>
      </p:sp>
      <p:sp>
        <p:nvSpPr>
          <p:cNvPr name="TextBox 12" id="12"/>
          <p:cNvSpPr txBox="true"/>
          <p:nvPr/>
        </p:nvSpPr>
        <p:spPr>
          <a:xfrm rot="0">
            <a:off x="3581474" y="7017016"/>
            <a:ext cx="9058485" cy="1844675"/>
          </a:xfrm>
          <a:prstGeom prst="rect">
            <a:avLst/>
          </a:prstGeom>
        </p:spPr>
        <p:txBody>
          <a:bodyPr anchor="t" rtlCol="false" tIns="0" lIns="0" bIns="0" rIns="0">
            <a:spAutoFit/>
          </a:bodyPr>
          <a:lstStyle/>
          <a:p>
            <a:pPr algn="l">
              <a:lnSpc>
                <a:spcPts val="4900"/>
              </a:lnSpc>
            </a:pPr>
            <a:r>
              <a:rPr lang="en-US" sz="3500" i="true">
                <a:solidFill>
                  <a:srgbClr val="191919"/>
                </a:solidFill>
                <a:latin typeface="Gotham Light Italics"/>
                <a:ea typeface="Gotham Light Italics"/>
                <a:cs typeface="Gotham Light Italics"/>
                <a:sym typeface="Gotham Light Italics"/>
              </a:rPr>
              <a:t>Kurangnya komunikasi berupa apresiasi terhadap pencapaian kinerja individu, divisi, atau subdivisi</a:t>
            </a:r>
          </a:p>
        </p:txBody>
      </p:sp>
      <p:grpSp>
        <p:nvGrpSpPr>
          <p:cNvPr name="Group 13" id="13"/>
          <p:cNvGrpSpPr/>
          <p:nvPr/>
        </p:nvGrpSpPr>
        <p:grpSpPr>
          <a:xfrm rot="0">
            <a:off x="15711069" y="-1848529"/>
            <a:ext cx="3697059" cy="369705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 cap="sq">
              <a:solidFill>
                <a:srgbClr val="FD6220"/>
              </a:solidFill>
              <a:prstDash val="solid"/>
              <a:miter/>
            </a:ln>
          </p:spPr>
        </p:sp>
        <p:sp>
          <p:nvSpPr>
            <p:cNvPr name="TextBox 15" id="15"/>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4374170" y="3191917"/>
            <a:ext cx="3185428" cy="5521784"/>
            <a:chOff x="0" y="0"/>
            <a:chExt cx="4247237" cy="7362378"/>
          </a:xfrm>
        </p:grpSpPr>
        <p:grpSp>
          <p:nvGrpSpPr>
            <p:cNvPr name="Group 17" id="17"/>
            <p:cNvGrpSpPr/>
            <p:nvPr/>
          </p:nvGrpSpPr>
          <p:grpSpPr>
            <a:xfrm rot="0">
              <a:off x="2331940" y="1220780"/>
              <a:ext cx="1915297" cy="1920589"/>
              <a:chOff x="0" y="0"/>
              <a:chExt cx="1915297" cy="1920589"/>
            </a:xfrm>
          </p:grpSpPr>
          <p:sp>
            <p:nvSpPr>
              <p:cNvPr name="AutoShape 18" id="18"/>
              <p:cNvSpPr/>
              <p:nvPr/>
            </p:nvSpPr>
            <p:spPr>
              <a:xfrm>
                <a:off x="0" y="0"/>
                <a:ext cx="1915297" cy="1920589"/>
              </a:xfrm>
              <a:prstGeom prst="rect">
                <a:avLst/>
              </a:prstGeom>
              <a:solidFill>
                <a:srgbClr val="F9232C"/>
              </a:solidFill>
            </p:spPr>
          </p:sp>
        </p:grpSp>
        <p:grpSp>
          <p:nvGrpSpPr>
            <p:cNvPr name="Group 19" id="19"/>
            <p:cNvGrpSpPr/>
            <p:nvPr/>
          </p:nvGrpSpPr>
          <p:grpSpPr>
            <a:xfrm rot="0">
              <a:off x="2331940" y="3857399"/>
              <a:ext cx="1915297" cy="1046074"/>
              <a:chOff x="0" y="0"/>
              <a:chExt cx="1915297" cy="1046074"/>
            </a:xfrm>
          </p:grpSpPr>
          <p:sp>
            <p:nvSpPr>
              <p:cNvPr name="AutoShape 20" id="20"/>
              <p:cNvSpPr/>
              <p:nvPr/>
            </p:nvSpPr>
            <p:spPr>
              <a:xfrm>
                <a:off x="0" y="0"/>
                <a:ext cx="1915297" cy="1046074"/>
              </a:xfrm>
              <a:prstGeom prst="rect">
                <a:avLst/>
              </a:prstGeom>
              <a:solidFill>
                <a:srgbClr val="FD6220"/>
              </a:solidFill>
            </p:spPr>
          </p:sp>
        </p:grpSp>
        <p:grpSp>
          <p:nvGrpSpPr>
            <p:cNvPr name="Group 21" id="21"/>
            <p:cNvGrpSpPr/>
            <p:nvPr/>
          </p:nvGrpSpPr>
          <p:grpSpPr>
            <a:xfrm rot="0">
              <a:off x="0" y="2181074"/>
              <a:ext cx="1915297" cy="960294"/>
              <a:chOff x="0" y="0"/>
              <a:chExt cx="1915297" cy="960294"/>
            </a:xfrm>
          </p:grpSpPr>
          <p:sp>
            <p:nvSpPr>
              <p:cNvPr name="AutoShape 22" id="22"/>
              <p:cNvSpPr/>
              <p:nvPr/>
            </p:nvSpPr>
            <p:spPr>
              <a:xfrm>
                <a:off x="0" y="0"/>
                <a:ext cx="1915297" cy="960294"/>
              </a:xfrm>
              <a:prstGeom prst="rect">
                <a:avLst/>
              </a:prstGeom>
              <a:solidFill>
                <a:srgbClr val="FD6220"/>
              </a:solidFill>
            </p:spPr>
          </p:sp>
        </p:grpSp>
        <p:grpSp>
          <p:nvGrpSpPr>
            <p:cNvPr name="Group 23" id="23"/>
            <p:cNvGrpSpPr/>
            <p:nvPr/>
          </p:nvGrpSpPr>
          <p:grpSpPr>
            <a:xfrm rot="0">
              <a:off x="0" y="3857399"/>
              <a:ext cx="1915297" cy="2056739"/>
              <a:chOff x="0" y="0"/>
              <a:chExt cx="1915297" cy="2056739"/>
            </a:xfrm>
          </p:grpSpPr>
          <p:sp>
            <p:nvSpPr>
              <p:cNvPr name="AutoShape 24" id="24"/>
              <p:cNvSpPr/>
              <p:nvPr/>
            </p:nvSpPr>
            <p:spPr>
              <a:xfrm>
                <a:off x="0" y="0"/>
                <a:ext cx="1915297" cy="2056739"/>
              </a:xfrm>
              <a:prstGeom prst="rect">
                <a:avLst/>
              </a:prstGeom>
              <a:solidFill>
                <a:srgbClr val="F9232C"/>
              </a:solidFill>
            </p:spPr>
          </p:sp>
        </p:grpSp>
        <p:grpSp>
          <p:nvGrpSpPr>
            <p:cNvPr name="Group 25" id="25"/>
            <p:cNvGrpSpPr/>
            <p:nvPr/>
          </p:nvGrpSpPr>
          <p:grpSpPr>
            <a:xfrm rot="0">
              <a:off x="2331940" y="104398"/>
              <a:ext cx="1915297" cy="960294"/>
              <a:chOff x="0" y="0"/>
              <a:chExt cx="1915297" cy="960294"/>
            </a:xfrm>
          </p:grpSpPr>
          <p:sp>
            <p:nvSpPr>
              <p:cNvPr name="AutoShape 26" id="26"/>
              <p:cNvSpPr/>
              <p:nvPr/>
            </p:nvSpPr>
            <p:spPr>
              <a:xfrm>
                <a:off x="0" y="0"/>
                <a:ext cx="1915297" cy="960294"/>
              </a:xfrm>
              <a:prstGeom prst="rect">
                <a:avLst/>
              </a:prstGeom>
              <a:solidFill>
                <a:srgbClr val="FD6220"/>
              </a:solidFill>
            </p:spPr>
          </p:sp>
        </p:grpSp>
        <p:grpSp>
          <p:nvGrpSpPr>
            <p:cNvPr name="Group 27" id="27"/>
            <p:cNvGrpSpPr/>
            <p:nvPr/>
          </p:nvGrpSpPr>
          <p:grpSpPr>
            <a:xfrm rot="0">
              <a:off x="0" y="0"/>
              <a:ext cx="1915297" cy="1920589"/>
              <a:chOff x="0" y="0"/>
              <a:chExt cx="1915297" cy="1920589"/>
            </a:xfrm>
          </p:grpSpPr>
          <p:sp>
            <p:nvSpPr>
              <p:cNvPr name="AutoShape 28" id="28"/>
              <p:cNvSpPr/>
              <p:nvPr/>
            </p:nvSpPr>
            <p:spPr>
              <a:xfrm>
                <a:off x="0" y="0"/>
                <a:ext cx="1915297" cy="1920589"/>
              </a:xfrm>
              <a:prstGeom prst="rect">
                <a:avLst/>
              </a:prstGeom>
              <a:solidFill>
                <a:srgbClr val="F9232C"/>
              </a:solidFill>
            </p:spPr>
          </p:sp>
        </p:grpSp>
        <p:grpSp>
          <p:nvGrpSpPr>
            <p:cNvPr name="Group 29" id="29"/>
            <p:cNvGrpSpPr/>
            <p:nvPr/>
          </p:nvGrpSpPr>
          <p:grpSpPr>
            <a:xfrm rot="0">
              <a:off x="2331940" y="5305640"/>
              <a:ext cx="1915297" cy="2056739"/>
              <a:chOff x="0" y="0"/>
              <a:chExt cx="1915297" cy="2056739"/>
            </a:xfrm>
          </p:grpSpPr>
          <p:sp>
            <p:nvSpPr>
              <p:cNvPr name="AutoShape 30" id="30"/>
              <p:cNvSpPr/>
              <p:nvPr/>
            </p:nvSpPr>
            <p:spPr>
              <a:xfrm>
                <a:off x="0" y="0"/>
                <a:ext cx="1915297" cy="2056739"/>
              </a:xfrm>
              <a:prstGeom prst="rect">
                <a:avLst/>
              </a:prstGeom>
              <a:solidFill>
                <a:srgbClr val="F9232C"/>
              </a:solidFill>
            </p:spPr>
          </p:sp>
        </p:grpSp>
        <p:grpSp>
          <p:nvGrpSpPr>
            <p:cNvPr name="Group 31" id="31"/>
            <p:cNvGrpSpPr/>
            <p:nvPr/>
          </p:nvGrpSpPr>
          <p:grpSpPr>
            <a:xfrm rot="0">
              <a:off x="0" y="6316305"/>
              <a:ext cx="1915297" cy="1046074"/>
              <a:chOff x="0" y="0"/>
              <a:chExt cx="1915297" cy="1046074"/>
            </a:xfrm>
          </p:grpSpPr>
          <p:sp>
            <p:nvSpPr>
              <p:cNvPr name="AutoShape 32" id="32"/>
              <p:cNvSpPr/>
              <p:nvPr/>
            </p:nvSpPr>
            <p:spPr>
              <a:xfrm>
                <a:off x="0" y="0"/>
                <a:ext cx="1915297" cy="1046074"/>
              </a:xfrm>
              <a:prstGeom prst="rect">
                <a:avLst/>
              </a:prstGeom>
              <a:solidFill>
                <a:srgbClr val="FD6220"/>
              </a:solidFill>
            </p:spPr>
          </p:sp>
        </p:gr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FFE"/>
        </a:solidFill>
      </p:bgPr>
    </p:bg>
    <p:spTree>
      <p:nvGrpSpPr>
        <p:cNvPr id="1" name=""/>
        <p:cNvGrpSpPr/>
        <p:nvPr/>
      </p:nvGrpSpPr>
      <p:grpSpPr>
        <a:xfrm>
          <a:off x="0" y="0"/>
          <a:ext cx="0" cy="0"/>
          <a:chOff x="0" y="0"/>
          <a:chExt cx="0" cy="0"/>
        </a:xfrm>
      </p:grpSpPr>
      <p:grpSp>
        <p:nvGrpSpPr>
          <p:cNvPr name="Group 2" id="2"/>
          <p:cNvGrpSpPr/>
          <p:nvPr/>
        </p:nvGrpSpPr>
        <p:grpSpPr>
          <a:xfrm rot="0">
            <a:off x="11762088" y="-9632634"/>
            <a:ext cx="10994424" cy="1099442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D6220">
                  <a:alpha val="11765"/>
                </a:srgbClr>
              </a:solidFill>
              <a:prstDash val="solid"/>
              <a:miter/>
            </a:ln>
          </p:spPr>
        </p:sp>
        <p:sp>
          <p:nvSpPr>
            <p:cNvPr name="TextBox 4" id="4"/>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4414031" y="3790629"/>
            <a:ext cx="946126" cy="671749"/>
          </a:xfrm>
          <a:custGeom>
            <a:avLst/>
            <a:gdLst/>
            <a:ahLst/>
            <a:cxnLst/>
            <a:rect r="r" b="b" t="t" l="l"/>
            <a:pathLst>
              <a:path h="671749" w="946126">
                <a:moveTo>
                  <a:pt x="0" y="0"/>
                </a:moveTo>
                <a:lnTo>
                  <a:pt x="946125" y="0"/>
                </a:lnTo>
                <a:lnTo>
                  <a:pt x="946125" y="671749"/>
                </a:lnTo>
                <a:lnTo>
                  <a:pt x="0" y="6717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192515" y="3726964"/>
            <a:ext cx="1347540" cy="799080"/>
          </a:xfrm>
          <a:custGeom>
            <a:avLst/>
            <a:gdLst/>
            <a:ahLst/>
            <a:cxnLst/>
            <a:rect r="r" b="b" t="t" l="l"/>
            <a:pathLst>
              <a:path h="799080" w="1347540">
                <a:moveTo>
                  <a:pt x="0" y="0"/>
                </a:moveTo>
                <a:lnTo>
                  <a:pt x="1347540" y="0"/>
                </a:lnTo>
                <a:lnTo>
                  <a:pt x="1347540" y="799080"/>
                </a:lnTo>
                <a:lnTo>
                  <a:pt x="0" y="7990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4372413" y="3680524"/>
            <a:ext cx="781681" cy="891959"/>
          </a:xfrm>
          <a:custGeom>
            <a:avLst/>
            <a:gdLst/>
            <a:ahLst/>
            <a:cxnLst/>
            <a:rect r="r" b="b" t="t" l="l"/>
            <a:pathLst>
              <a:path h="891959" w="781681">
                <a:moveTo>
                  <a:pt x="0" y="0"/>
                </a:moveTo>
                <a:lnTo>
                  <a:pt x="781681" y="0"/>
                </a:lnTo>
                <a:lnTo>
                  <a:pt x="781681" y="891959"/>
                </a:lnTo>
                <a:lnTo>
                  <a:pt x="0" y="8919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2604120" y="885825"/>
            <a:ext cx="7824944" cy="1285871"/>
          </a:xfrm>
          <a:prstGeom prst="rect">
            <a:avLst/>
          </a:prstGeom>
        </p:spPr>
        <p:txBody>
          <a:bodyPr anchor="t" rtlCol="false" tIns="0" lIns="0" bIns="0" rIns="0">
            <a:spAutoFit/>
          </a:bodyPr>
          <a:lstStyle/>
          <a:p>
            <a:pPr algn="just">
              <a:lnSpc>
                <a:spcPts val="10500"/>
              </a:lnSpc>
              <a:spcBef>
                <a:spcPct val="0"/>
              </a:spcBef>
            </a:pPr>
            <a:r>
              <a:rPr lang="en-US" b="true" sz="7500">
                <a:solidFill>
                  <a:srgbClr val="F46200"/>
                </a:solidFill>
                <a:latin typeface="Gotham Bold"/>
                <a:ea typeface="Gotham Bold"/>
                <a:cs typeface="Gotham Bold"/>
                <a:sym typeface="Gotham Bold"/>
              </a:rPr>
              <a:t>PROYEKSI</a:t>
            </a:r>
          </a:p>
        </p:txBody>
      </p:sp>
      <p:sp>
        <p:nvSpPr>
          <p:cNvPr name="TextBox 9" id="9"/>
          <p:cNvSpPr txBox="true"/>
          <p:nvPr/>
        </p:nvSpPr>
        <p:spPr>
          <a:xfrm rot="0">
            <a:off x="2618056" y="2032442"/>
            <a:ext cx="5843569" cy="873125"/>
          </a:xfrm>
          <a:prstGeom prst="rect">
            <a:avLst/>
          </a:prstGeom>
        </p:spPr>
        <p:txBody>
          <a:bodyPr anchor="t" rtlCol="false" tIns="0" lIns="0" bIns="0" rIns="0">
            <a:spAutoFit/>
          </a:bodyPr>
          <a:lstStyle/>
          <a:p>
            <a:pPr algn="l">
              <a:lnSpc>
                <a:spcPts val="7000"/>
              </a:lnSpc>
            </a:pPr>
            <a:r>
              <a:rPr lang="en-US" sz="5000">
                <a:solidFill>
                  <a:srgbClr val="191919"/>
                </a:solidFill>
                <a:latin typeface="Gotham"/>
                <a:ea typeface="Gotham"/>
                <a:cs typeface="Gotham"/>
                <a:sym typeface="Gotham"/>
              </a:rPr>
              <a:t>Proyeksi Kedepan</a:t>
            </a:r>
          </a:p>
        </p:txBody>
      </p:sp>
      <p:sp>
        <p:nvSpPr>
          <p:cNvPr name="TextBox 10" id="10"/>
          <p:cNvSpPr txBox="true"/>
          <p:nvPr/>
        </p:nvSpPr>
        <p:spPr>
          <a:xfrm rot="0">
            <a:off x="3079262" y="4695490"/>
            <a:ext cx="3615664" cy="2000491"/>
          </a:xfrm>
          <a:prstGeom prst="rect">
            <a:avLst/>
          </a:prstGeom>
        </p:spPr>
        <p:txBody>
          <a:bodyPr anchor="t" rtlCol="false" tIns="0" lIns="0" bIns="0" rIns="0">
            <a:spAutoFit/>
          </a:bodyPr>
          <a:lstStyle/>
          <a:p>
            <a:pPr algn="l" marL="492756" indent="-246378" lvl="1">
              <a:lnSpc>
                <a:spcPts val="3195"/>
              </a:lnSpc>
              <a:buFont typeface="Arial"/>
              <a:buChar char="•"/>
            </a:pPr>
            <a:r>
              <a:rPr lang="en-US" b="true" sz="2282" i="true">
                <a:solidFill>
                  <a:srgbClr val="191919"/>
                </a:solidFill>
                <a:latin typeface="Gotham Bold Italics"/>
                <a:ea typeface="Gotham Bold Italics"/>
                <a:cs typeface="Gotham Bold Italics"/>
                <a:sym typeface="Gotham Bold Italics"/>
              </a:rPr>
              <a:t>Dapat mengontrol anggota pengurus dalam menjalankan tugas pokok dan fungsi</a:t>
            </a:r>
          </a:p>
        </p:txBody>
      </p:sp>
      <p:sp>
        <p:nvSpPr>
          <p:cNvPr name="TextBox 11" id="11"/>
          <p:cNvSpPr txBox="true"/>
          <p:nvPr/>
        </p:nvSpPr>
        <p:spPr>
          <a:xfrm rot="0">
            <a:off x="8146424" y="4786315"/>
            <a:ext cx="3615664" cy="1598324"/>
          </a:xfrm>
          <a:prstGeom prst="rect">
            <a:avLst/>
          </a:prstGeom>
        </p:spPr>
        <p:txBody>
          <a:bodyPr anchor="t" rtlCol="false" tIns="0" lIns="0" bIns="0" rIns="0">
            <a:spAutoFit/>
          </a:bodyPr>
          <a:lstStyle/>
          <a:p>
            <a:pPr algn="l" marL="492756" indent="-246378" lvl="1">
              <a:lnSpc>
                <a:spcPts val="3195"/>
              </a:lnSpc>
              <a:buFont typeface="Arial"/>
              <a:buChar char="•"/>
            </a:pPr>
            <a:r>
              <a:rPr lang="en-US" b="true" sz="2282" i="true">
                <a:solidFill>
                  <a:srgbClr val="191919"/>
                </a:solidFill>
                <a:latin typeface="Gotham Bold Italics"/>
                <a:ea typeface="Gotham Bold Italics"/>
                <a:cs typeface="Gotham Bold Italics"/>
                <a:sym typeface="Gotham Bold Italics"/>
              </a:rPr>
              <a:t>Melakukan rapat BPH 7 per satu minggu dengan terjadwal</a:t>
            </a:r>
          </a:p>
        </p:txBody>
      </p:sp>
      <p:sp>
        <p:nvSpPr>
          <p:cNvPr name="TextBox 12" id="12"/>
          <p:cNvSpPr txBox="true"/>
          <p:nvPr/>
        </p:nvSpPr>
        <p:spPr>
          <a:xfrm rot="0">
            <a:off x="2855658" y="7045591"/>
            <a:ext cx="3615664" cy="1598324"/>
          </a:xfrm>
          <a:prstGeom prst="rect">
            <a:avLst/>
          </a:prstGeom>
        </p:spPr>
        <p:txBody>
          <a:bodyPr anchor="t" rtlCol="false" tIns="0" lIns="0" bIns="0" rIns="0">
            <a:spAutoFit/>
          </a:bodyPr>
          <a:lstStyle/>
          <a:p>
            <a:pPr algn="l" marL="492756" indent="-246378" lvl="1">
              <a:lnSpc>
                <a:spcPts val="3195"/>
              </a:lnSpc>
              <a:buFont typeface="Arial"/>
              <a:buChar char="•"/>
            </a:pPr>
            <a:r>
              <a:rPr lang="en-US" b="true" sz="2282" i="true">
                <a:solidFill>
                  <a:srgbClr val="191919"/>
                </a:solidFill>
                <a:latin typeface="Gotham Bold Italics"/>
                <a:ea typeface="Gotham Bold Italics"/>
                <a:cs typeface="Gotham Bold Italics"/>
                <a:sym typeface="Gotham Bold Italics"/>
              </a:rPr>
              <a:t>Membuat Job Description untuk Divisi dan Subdivisi dalam bentuk ppt</a:t>
            </a:r>
          </a:p>
        </p:txBody>
      </p:sp>
      <p:sp>
        <p:nvSpPr>
          <p:cNvPr name="TextBox 13" id="13"/>
          <p:cNvSpPr txBox="true"/>
          <p:nvPr/>
        </p:nvSpPr>
        <p:spPr>
          <a:xfrm rot="0">
            <a:off x="8001685" y="7045591"/>
            <a:ext cx="4240644" cy="1196156"/>
          </a:xfrm>
          <a:prstGeom prst="rect">
            <a:avLst/>
          </a:prstGeom>
        </p:spPr>
        <p:txBody>
          <a:bodyPr anchor="t" rtlCol="false" tIns="0" lIns="0" bIns="0" rIns="0">
            <a:spAutoFit/>
          </a:bodyPr>
          <a:lstStyle/>
          <a:p>
            <a:pPr algn="l" marL="492756" indent="-246378" lvl="1">
              <a:lnSpc>
                <a:spcPts val="3195"/>
              </a:lnSpc>
              <a:buFont typeface="Arial"/>
              <a:buChar char="•"/>
            </a:pPr>
            <a:r>
              <a:rPr lang="en-US" b="true" sz="2282" i="true">
                <a:solidFill>
                  <a:srgbClr val="191919"/>
                </a:solidFill>
                <a:latin typeface="Gotham Bold Italics"/>
                <a:ea typeface="Gotham Bold Italics"/>
                <a:cs typeface="Gotham Bold Italics"/>
                <a:sym typeface="Gotham Bold Italics"/>
              </a:rPr>
              <a:t>Menjalin komunikasi dengan baik dengan anggota kepengurusan</a:t>
            </a:r>
          </a:p>
        </p:txBody>
      </p:sp>
      <p:sp>
        <p:nvSpPr>
          <p:cNvPr name="TextBox 14" id="14"/>
          <p:cNvSpPr txBox="true"/>
          <p:nvPr/>
        </p:nvSpPr>
        <p:spPr>
          <a:xfrm rot="0">
            <a:off x="12955422" y="4835568"/>
            <a:ext cx="3615664" cy="1598324"/>
          </a:xfrm>
          <a:prstGeom prst="rect">
            <a:avLst/>
          </a:prstGeom>
        </p:spPr>
        <p:txBody>
          <a:bodyPr anchor="t" rtlCol="false" tIns="0" lIns="0" bIns="0" rIns="0">
            <a:spAutoFit/>
          </a:bodyPr>
          <a:lstStyle/>
          <a:p>
            <a:pPr algn="l" marL="492756" indent="-246378" lvl="1">
              <a:lnSpc>
                <a:spcPts val="3195"/>
              </a:lnSpc>
              <a:buFont typeface="Arial"/>
              <a:buChar char="•"/>
            </a:pPr>
            <a:r>
              <a:rPr lang="en-US" b="true" sz="2282" i="true">
                <a:solidFill>
                  <a:srgbClr val="191919"/>
                </a:solidFill>
                <a:latin typeface="Gotham Bold Italics"/>
                <a:ea typeface="Gotham Bold Italics"/>
                <a:cs typeface="Gotham Bold Italics"/>
                <a:sym typeface="Gotham Bold Italics"/>
              </a:rPr>
              <a:t>Melakukan rapat kepengurusan per 2 minggu sekali dengan terstruktur</a:t>
            </a:r>
          </a:p>
        </p:txBody>
      </p:sp>
      <p:sp>
        <p:nvSpPr>
          <p:cNvPr name="TextBox 15" id="15"/>
          <p:cNvSpPr txBox="true"/>
          <p:nvPr/>
        </p:nvSpPr>
        <p:spPr>
          <a:xfrm rot="0">
            <a:off x="12955422" y="7138955"/>
            <a:ext cx="3615664" cy="1196156"/>
          </a:xfrm>
          <a:prstGeom prst="rect">
            <a:avLst/>
          </a:prstGeom>
        </p:spPr>
        <p:txBody>
          <a:bodyPr anchor="t" rtlCol="false" tIns="0" lIns="0" bIns="0" rIns="0">
            <a:spAutoFit/>
          </a:bodyPr>
          <a:lstStyle/>
          <a:p>
            <a:pPr algn="l" marL="492756" indent="-246378" lvl="1">
              <a:lnSpc>
                <a:spcPts val="3195"/>
              </a:lnSpc>
              <a:buFont typeface="Arial"/>
              <a:buChar char="•"/>
            </a:pPr>
            <a:r>
              <a:rPr lang="en-US" b="true" sz="2282" i="true">
                <a:solidFill>
                  <a:srgbClr val="191919"/>
                </a:solidFill>
                <a:latin typeface="Gotham Bold Italics"/>
                <a:ea typeface="Gotham Bold Italics"/>
                <a:cs typeface="Gotham Bold Italics"/>
                <a:sym typeface="Gotham Bold Italics"/>
              </a:rPr>
              <a:t>Membuat jadwal rapat dan jadwal program kerja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FFE"/>
        </a:solidFill>
      </p:bgPr>
    </p:bg>
    <p:spTree>
      <p:nvGrpSpPr>
        <p:cNvPr id="1" name=""/>
        <p:cNvGrpSpPr/>
        <p:nvPr/>
      </p:nvGrpSpPr>
      <p:grpSpPr>
        <a:xfrm>
          <a:off x="0" y="0"/>
          <a:ext cx="0" cy="0"/>
          <a:chOff x="0" y="0"/>
          <a:chExt cx="0" cy="0"/>
        </a:xfrm>
      </p:grpSpPr>
      <p:sp>
        <p:nvSpPr>
          <p:cNvPr name="TextBox 2" id="2"/>
          <p:cNvSpPr txBox="true"/>
          <p:nvPr/>
        </p:nvSpPr>
        <p:spPr>
          <a:xfrm rot="0">
            <a:off x="2188511" y="1889255"/>
            <a:ext cx="13910978" cy="6415397"/>
          </a:xfrm>
          <a:prstGeom prst="rect">
            <a:avLst/>
          </a:prstGeom>
        </p:spPr>
        <p:txBody>
          <a:bodyPr anchor="t" rtlCol="false" tIns="0" lIns="0" bIns="0" rIns="0">
            <a:spAutoFit/>
          </a:bodyPr>
          <a:lstStyle/>
          <a:p>
            <a:pPr algn="just">
              <a:lnSpc>
                <a:spcPts val="3395"/>
              </a:lnSpc>
            </a:pPr>
            <a:r>
              <a:rPr lang="en-US" sz="2425" b="true">
                <a:solidFill>
                  <a:srgbClr val="191919"/>
                </a:solidFill>
                <a:latin typeface="Gotham Bold"/>
                <a:ea typeface="Gotham Bold"/>
                <a:cs typeface="Gotham Bold"/>
                <a:sym typeface="Gotham Bold"/>
              </a:rPr>
              <a:t> Rekan-rekan pengurus HIMATIF, dalam organisasi ini, kenyamanan itu sangat penting. Ketika kita merasa nyaman, kita akan seperti keluarga yang siap menghadapi tantangan apapun bersama-sama. Komunikasi dan kebersamaan harus terus kita perhatikan, karena itulah yang menyatukan kita dan mengurangi beban yang ada, masih banyak badai yang menghadang harus kita terjang, dan ombak yang menjulang tinggi harus kita lewati .</a:t>
            </a:r>
          </a:p>
          <a:p>
            <a:pPr algn="just">
              <a:lnSpc>
                <a:spcPts val="3395"/>
              </a:lnSpc>
            </a:pPr>
            <a:r>
              <a:rPr lang="en-US" sz="2425" b="true">
                <a:solidFill>
                  <a:srgbClr val="191919"/>
                </a:solidFill>
                <a:latin typeface="Gotham Bold"/>
                <a:ea typeface="Gotham Bold"/>
                <a:cs typeface="Gotham Bold"/>
                <a:sym typeface="Gotham Bold"/>
              </a:rPr>
              <a:t> Kepada seluruh pengurus HIMATIF 17’ yang hebat, saya menyampaikan terima kasih yang tak terhingga atas kebersamaan dan kerja keras Anda yang luar biasa. Secara pribadi, saya sungguh memohon maaf yang sebesar-besarnya. Saya menyadari betul bahwa dalam menjalankan amanah ini, masih banyak kekurangan saya sebagai seorang Ketua. Saya mohon maaf jika dalam kepemimpinan saya, saya belum sepenuhnya mampu hadir dan membersamai langkah Anda di setiap waktu, dan jika ada tutur kata atau kebijakan yang kurang berkenan. Mari kita lupakan semua kekurangan itu. Mari kita jadikan evaluasi ini sebagai pelecut semangat juang baru dan bersatu padu menyatukan tekad untuk mencapai tujuan bersama kita</a:t>
            </a:r>
          </a:p>
          <a:p>
            <a:pPr algn="just">
              <a:lnSpc>
                <a:spcPts val="3395"/>
              </a:lnSpc>
            </a:pPr>
            <a:r>
              <a:rPr lang="en-US" b="true" sz="2425">
                <a:solidFill>
                  <a:srgbClr val="191919"/>
                </a:solidFill>
                <a:latin typeface="Gotham Bold"/>
                <a:ea typeface="Gotham Bold"/>
                <a:cs typeface="Gotham Bold"/>
                <a:sym typeface="Gotham Bold"/>
              </a:rPr>
              <a:t>Wallahul muwafiq ila aqwamit thariq, Wassalamu'alaikum Wr. Wb.</a:t>
            </a:r>
          </a:p>
        </p:txBody>
      </p:sp>
      <p:grpSp>
        <p:nvGrpSpPr>
          <p:cNvPr name="Group 3" id="3"/>
          <p:cNvGrpSpPr/>
          <p:nvPr/>
        </p:nvGrpSpPr>
        <p:grpSpPr>
          <a:xfrm rot="0">
            <a:off x="0" y="9559014"/>
            <a:ext cx="18867690" cy="784555"/>
            <a:chOff x="0" y="0"/>
            <a:chExt cx="25156920" cy="1046074"/>
          </a:xfrm>
        </p:grpSpPr>
        <p:sp>
          <p:nvSpPr>
            <p:cNvPr name="AutoShape 4" id="4"/>
            <p:cNvSpPr/>
            <p:nvPr/>
          </p:nvSpPr>
          <p:spPr>
            <a:xfrm>
              <a:off x="0" y="0"/>
              <a:ext cx="25156920" cy="1046074"/>
            </a:xfrm>
            <a:prstGeom prst="rect">
              <a:avLst/>
            </a:prstGeom>
            <a:solidFill>
              <a:srgbClr val="E3E2E1"/>
            </a:solidFill>
          </p:spPr>
        </p:sp>
      </p:grpSp>
      <p:sp>
        <p:nvSpPr>
          <p:cNvPr name="Freeform 5" id="5"/>
          <p:cNvSpPr/>
          <p:nvPr/>
        </p:nvSpPr>
        <p:spPr>
          <a:xfrm flipH="false" flipV="false" rot="0">
            <a:off x="17699815" y="9604796"/>
            <a:ext cx="444775" cy="692991"/>
          </a:xfrm>
          <a:custGeom>
            <a:avLst/>
            <a:gdLst/>
            <a:ahLst/>
            <a:cxnLst/>
            <a:rect r="r" b="b" t="t" l="l"/>
            <a:pathLst>
              <a:path h="692991" w="444775">
                <a:moveTo>
                  <a:pt x="0" y="0"/>
                </a:moveTo>
                <a:lnTo>
                  <a:pt x="444775" y="0"/>
                </a:lnTo>
                <a:lnTo>
                  <a:pt x="444775" y="692991"/>
                </a:lnTo>
                <a:lnTo>
                  <a:pt x="0" y="6929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6359436" y="242803"/>
            <a:ext cx="5569129" cy="1409870"/>
          </a:xfrm>
          <a:prstGeom prst="rect">
            <a:avLst/>
          </a:prstGeom>
        </p:spPr>
        <p:txBody>
          <a:bodyPr anchor="t" rtlCol="false" tIns="0" lIns="0" bIns="0" rIns="0">
            <a:spAutoFit/>
          </a:bodyPr>
          <a:lstStyle/>
          <a:p>
            <a:pPr algn="l">
              <a:lnSpc>
                <a:spcPts val="11540"/>
              </a:lnSpc>
              <a:spcBef>
                <a:spcPct val="0"/>
              </a:spcBef>
            </a:pPr>
            <a:r>
              <a:rPr lang="en-US" b="true" sz="8243">
                <a:solidFill>
                  <a:srgbClr val="F46200"/>
                </a:solidFill>
                <a:latin typeface="Gotham Bold"/>
                <a:ea typeface="Gotham Bold"/>
                <a:cs typeface="Gotham Bold"/>
                <a:sym typeface="Gotham Bold"/>
              </a:rPr>
              <a:t>PENUTUP</a:t>
            </a:r>
          </a:p>
        </p:txBody>
      </p:sp>
      <p:sp>
        <p:nvSpPr>
          <p:cNvPr name="TextBox 7" id="7"/>
          <p:cNvSpPr txBox="true"/>
          <p:nvPr/>
        </p:nvSpPr>
        <p:spPr>
          <a:xfrm rot="0">
            <a:off x="12722453" y="9719177"/>
            <a:ext cx="5565547" cy="754602"/>
          </a:xfrm>
          <a:prstGeom prst="rect">
            <a:avLst/>
          </a:prstGeom>
        </p:spPr>
        <p:txBody>
          <a:bodyPr anchor="t" rtlCol="false" tIns="0" lIns="0" bIns="0" rIns="0">
            <a:spAutoFit/>
          </a:bodyPr>
          <a:lstStyle/>
          <a:p>
            <a:pPr algn="l">
              <a:lnSpc>
                <a:spcPts val="3032"/>
              </a:lnSpc>
            </a:pPr>
            <a:r>
              <a:rPr lang="en-US" sz="2166" b="true">
                <a:solidFill>
                  <a:srgbClr val="FF751F"/>
                </a:solidFill>
                <a:latin typeface="Gotham Bold"/>
                <a:ea typeface="Gotham Bold"/>
                <a:cs typeface="Gotham Bold"/>
                <a:sym typeface="Gotham Bold"/>
              </a:rPr>
              <a:t>HIMATIF </a:t>
            </a:r>
            <a:r>
              <a:rPr lang="en-US" sz="2166" b="true">
                <a:solidFill>
                  <a:srgbClr val="0D00FF"/>
                </a:solidFill>
                <a:latin typeface="Gotham Bold"/>
                <a:ea typeface="Gotham Bold"/>
                <a:cs typeface="Gotham Bold"/>
                <a:sym typeface="Gotham Bold"/>
              </a:rPr>
              <a:t>SATU TEKAD KITA JAYA</a:t>
            </a:r>
          </a:p>
          <a:p>
            <a:pPr algn="ctr">
              <a:lnSpc>
                <a:spcPts val="3032"/>
              </a:lnSpc>
              <a:spcBef>
                <a:spcPct val="0"/>
              </a:spcBef>
            </a:pPr>
          </a:p>
        </p:txBody>
      </p:sp>
      <p:grpSp>
        <p:nvGrpSpPr>
          <p:cNvPr name="Group 8" id="8"/>
          <p:cNvGrpSpPr/>
          <p:nvPr/>
        </p:nvGrpSpPr>
        <p:grpSpPr>
          <a:xfrm rot="0">
            <a:off x="11762088" y="-9632634"/>
            <a:ext cx="10994424" cy="109944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D6220">
                  <a:alpha val="11765"/>
                </a:srgbClr>
              </a:solidFill>
              <a:prstDash val="solid"/>
              <a:miter/>
            </a:ln>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FFE"/>
        </a:solidFill>
      </p:bgPr>
    </p:bg>
    <p:spTree>
      <p:nvGrpSpPr>
        <p:cNvPr id="1" name=""/>
        <p:cNvGrpSpPr/>
        <p:nvPr/>
      </p:nvGrpSpPr>
      <p:grpSpPr>
        <a:xfrm>
          <a:off x="0" y="0"/>
          <a:ext cx="0" cy="0"/>
          <a:chOff x="0" y="0"/>
          <a:chExt cx="0" cy="0"/>
        </a:xfrm>
      </p:grpSpPr>
      <p:sp>
        <p:nvSpPr>
          <p:cNvPr name="Freeform 2" id="2"/>
          <p:cNvSpPr/>
          <p:nvPr/>
        </p:nvSpPr>
        <p:spPr>
          <a:xfrm flipH="false" flipV="false" rot="0">
            <a:off x="16313420" y="1028700"/>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1456302">
            <a:off x="15787012" y="6247085"/>
            <a:ext cx="10994424" cy="1099442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19125" cap="sq">
              <a:solidFill>
                <a:srgbClr val="FD6220">
                  <a:alpha val="11765"/>
                </a:srgbClr>
              </a:solidFill>
              <a:prstDash val="solid"/>
              <a:miter/>
            </a:ln>
          </p:spPr>
        </p:sp>
        <p:sp>
          <p:nvSpPr>
            <p:cNvPr name="TextBox 5" id="5"/>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55760" y="9664934"/>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800769" y="-8617251"/>
            <a:ext cx="10994424" cy="10994424"/>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19125" cap="sq">
              <a:solidFill>
                <a:srgbClr val="FD6220">
                  <a:alpha val="11765"/>
                </a:srgbClr>
              </a:solidFill>
              <a:prstDash val="solid"/>
              <a:miter/>
            </a:ln>
          </p:spPr>
        </p:sp>
        <p:sp>
          <p:nvSpPr>
            <p:cNvPr name="TextBox 9" id="9"/>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2747931" y="3837522"/>
            <a:ext cx="12792137" cy="2945331"/>
          </a:xfrm>
          <a:prstGeom prst="rect">
            <a:avLst/>
          </a:prstGeom>
        </p:spPr>
        <p:txBody>
          <a:bodyPr anchor="t" rtlCol="false" tIns="0" lIns="0" bIns="0" rIns="0">
            <a:spAutoFit/>
          </a:bodyPr>
          <a:lstStyle/>
          <a:p>
            <a:pPr algn="ctr">
              <a:lnSpc>
                <a:spcPts val="11144"/>
              </a:lnSpc>
            </a:pPr>
            <a:r>
              <a:rPr lang="en-US" b="true" sz="12246" i="true">
                <a:solidFill>
                  <a:srgbClr val="191919"/>
                </a:solidFill>
                <a:latin typeface="Gotham Bold Italics"/>
                <a:ea typeface="Gotham Bold Italics"/>
                <a:cs typeface="Gotham Bold Italics"/>
                <a:sym typeface="Gotham Bold Italics"/>
              </a:rPr>
              <a:t>Terimakasih Semangat!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DAG6ihhSzX4</dc:identifier>
  <dcterms:modified xsi:type="dcterms:W3CDTF">2011-08-01T06:04:30Z</dcterms:modified>
  <cp:revision>1</cp:revision>
  <dc:title>White and Orange Simple Portfolio Presentation</dc:title>
</cp:coreProperties>
</file>